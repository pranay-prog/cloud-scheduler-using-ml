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10e765567f4fe1" /><Relationship Type="http://schemas.openxmlformats.org/officeDocument/2006/relationships/extended-properties" Target="/docProps/app.xml" Id="Rc80331fd0ce048d0" /><Relationship Type="http://schemas.openxmlformats.org/officeDocument/2006/relationships/officeDocument" Target="/ppt/presentation.xml" Id="Rbdfcbddd127649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ac4b5c3054320"/>
  </p:sldMasterIdLst>
  <p:notesMasterIdLst>
    <p:notesMasterId xmlns:r="http://schemas.openxmlformats.org/officeDocument/2006/relationships" r:id="R1184b675646b45cf"/>
  </p:notesMasterIdLst>
  <p:sldIdLst>
    <p:sldId xmlns:r="http://schemas.openxmlformats.org/officeDocument/2006/relationships" id="256" r:id="R7e2257f8e58c46a1"/>
    <p:sldId xmlns:r="http://schemas.openxmlformats.org/officeDocument/2006/relationships" id="257" r:id="Rc2bb66850e3a434b"/>
    <p:sldId xmlns:r="http://schemas.openxmlformats.org/officeDocument/2006/relationships" id="258" r:id="R63f6880bc8704cf9"/>
    <p:sldId xmlns:r="http://schemas.openxmlformats.org/officeDocument/2006/relationships" id="259" r:id="Ref86ece890f24a71"/>
    <p:sldId xmlns:r="http://schemas.openxmlformats.org/officeDocument/2006/relationships" id="260" r:id="R77d1b9f68424492f"/>
    <p:sldId xmlns:r="http://schemas.openxmlformats.org/officeDocument/2006/relationships" id="261" r:id="Rc7edd687d84c40ec"/>
    <p:sldId xmlns:r="http://schemas.openxmlformats.org/officeDocument/2006/relationships" id="262" r:id="R02dce35cdbed4537"/>
    <p:sldId xmlns:r="http://schemas.openxmlformats.org/officeDocument/2006/relationships" id="263" r:id="R51211f932cf047c5"/>
    <p:sldId xmlns:r="http://schemas.openxmlformats.org/officeDocument/2006/relationships" id="264" r:id="R310b7790a24944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06d48a6e004188" /><Relationship Type="http://schemas.openxmlformats.org/officeDocument/2006/relationships/slideMaster" Target="/ppt/slideMasters/slideMaster1.xml" Id="R225ac4b5c3054320" /><Relationship Type="http://schemas.openxmlformats.org/officeDocument/2006/relationships/notesMaster" Target="/ppt/notesMasters/notesMaster1.xml" Id="R1184b675646b45cf" /><Relationship Type="http://schemas.openxmlformats.org/officeDocument/2006/relationships/presProps" Target="/ppt/presProps.xml" Id="R0c26f2dd07d84391" /><Relationship Type="http://schemas.openxmlformats.org/officeDocument/2006/relationships/tableStyles" Target="/ppt/tableStyles.xml" Id="R650707098f084d6a" /><Relationship Type="http://schemas.openxmlformats.org/officeDocument/2006/relationships/slide" Target="/ppt/slides/slide1.xml" Id="R7e2257f8e58c46a1" /><Relationship Type="http://schemas.openxmlformats.org/officeDocument/2006/relationships/slide" Target="/ppt/slides/slide2.xml" Id="Rc2bb66850e3a434b" /><Relationship Type="http://schemas.openxmlformats.org/officeDocument/2006/relationships/slide" Target="/ppt/slides/slide3.xml" Id="R63f6880bc8704cf9" /><Relationship Type="http://schemas.openxmlformats.org/officeDocument/2006/relationships/slide" Target="/ppt/slides/slide4.xml" Id="Ref86ece890f24a71" /><Relationship Type="http://schemas.openxmlformats.org/officeDocument/2006/relationships/slide" Target="/ppt/slides/slide5.xml" Id="R77d1b9f68424492f" /><Relationship Type="http://schemas.openxmlformats.org/officeDocument/2006/relationships/slide" Target="/ppt/slides/slide6.xml" Id="Rc7edd687d84c40ec" /><Relationship Type="http://schemas.openxmlformats.org/officeDocument/2006/relationships/slide" Target="/ppt/slides/slide7.xml" Id="R02dce35cdbed4537" /><Relationship Type="http://schemas.openxmlformats.org/officeDocument/2006/relationships/slide" Target="/ppt/slides/slide8.xml" Id="R51211f932cf047c5" /><Relationship Type="http://schemas.openxmlformats.org/officeDocument/2006/relationships/slide" Target="/ppt/slides/slide9.xml" Id="R310b7790a24944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a5deb90a9e4c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0d4a98261845d7" /><Relationship Type="http://schemas.openxmlformats.org/officeDocument/2006/relationships/notesMaster" Target="/ppt/notesMasters/notesMaster1.xml" Id="R2685ee96e0de45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ce74497221448d" /><Relationship Type="http://schemas.openxmlformats.org/officeDocument/2006/relationships/notesMaster" Target="/ppt/notesMasters/notesMaster1.xml" Id="Rc7c241ff360148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63d9db45d54e90" /><Relationship Type="http://schemas.openxmlformats.org/officeDocument/2006/relationships/notesMaster" Target="/ppt/notesMasters/notesMaster1.xml" Id="R76547fe1392d40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e24cfb0a544c2d" /><Relationship Type="http://schemas.openxmlformats.org/officeDocument/2006/relationships/notesMaster" Target="/ppt/notesMasters/notesMaster1.xml" Id="Rfb518630c0b643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0c1eecbb47489b" /><Relationship Type="http://schemas.openxmlformats.org/officeDocument/2006/relationships/notesMaster" Target="/ppt/notesMasters/notesMaster1.xml" Id="Re14b2e1cc65646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d39ef00f9f45b9" /><Relationship Type="http://schemas.openxmlformats.org/officeDocument/2006/relationships/notesMaster" Target="/ppt/notesMasters/notesMaster1.xml" Id="Re1b92af158b64b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40ff6796e54a3a" /><Relationship Type="http://schemas.openxmlformats.org/officeDocument/2006/relationships/notesMaster" Target="/ppt/notesMasters/notesMaster1.xml" Id="Rc8d0a1141e1f42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7431094ecf4ece" /><Relationship Type="http://schemas.openxmlformats.org/officeDocument/2006/relationships/notesMaster" Target="/ppt/notesMasters/notesMaster1.xml" Id="R9b3261015c9b4e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6bf5532080440f" /><Relationship Type="http://schemas.openxmlformats.org/officeDocument/2006/relationships/notesMaster" Target="/ppt/notesMasters/notesMaster1.xml" Id="R86369b148c9948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an implemented simulation framework combining service-time prediction with queueing-based autoscaling. The current Random Forest experiment uses synthetic workload data; production validation remains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Queue length is useful but incomplete: it does not encode how clustered arrivals are or how variable task service times are. This project adds second moments and a service-time predictor to the scaling signal.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B(t) represents the ingress storage buffer; Q(t) is the admitted execution queue. The simulator models finite buffer capacity and queue backlog separately, then feeds telemetry into recurring autoscaler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repository contains an RF regressor that predicts task runtimes using CPU, RAM and workload category, then derives a service rate and squared coefficient of variation from predictions. The benchmark predictor is trained on a synthetic data-generating process. Avoid presenting its fit as evidence of production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uses an Allen–Cunneen style G/G/k approximation that scales Erlang-C waiting time by (C_a^2+C_s^2)/2 and adds a transient queue drain term. The safety factor is 0.80 for C_a^2 above 1.5 and 1.00 at or below 0.5, with interpolation between. This is an approximation, not an exact delay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this as a closed-loop simulator, not a deployed cloud control plane. The current benchmark config uses a 10-second boot delay, 4-second control interval and finite worker bounds. These delays matter because a correct prediction still takes time to affect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shown next are computed as unweighted averages across three traces, each with 600 arrivals, using the checked-in benchmark_results.csv. The repository benchmark uses an SLA target of 2 seconds and a simulated 10 second boot delay.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 are arithmetic means across the three traces in benchmark_results.csv. RF policy averages P95 latency 3.56 seconds, VM-hours 0.342, and SLA violation rate 15.7%. Threshold policy averages 11.30 seconds, 0.204 VM-hours, and 66.7%. The RF policy spends more capacity; it does not dominate cost. All 600 requests completed in each run and overflow was 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bounded claim: the evidence supports a simulation-level result under synthetic service-time data. Stronger claims require trace-driven validation, independent test data, uncertainty estimates, and cost-aware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cc7a93b3c4f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9294b126e41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30c34432e45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7f30651b74f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b4cf3d4444f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bd902cc854e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9440A5-D786-4CCA-9C01-3491B6BE8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827B67-A21B-4968-A8E7-127800C6DB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58EB30-197B-4282-BDCC-5CFD6E3F5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FA4D28-83AB-40D4-B279-E9E6FBD81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214B5F-670D-4F89-9C07-0AB8E15914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153D86-0F0E-42F4-8F5A-7DC27278D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5DE65E-FAE7-40D4-8488-E5844122B8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8324DF-14A6-40E2-8DFC-F799803AD1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0648D7-E65A-4499-81C5-DC854F667C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1CD58C-F05A-4247-8E7F-DA99E404D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ce0eadf4c44ce6" /><Relationship Type="http://schemas.openxmlformats.org/officeDocument/2006/relationships/slideLayout" Target="/ppt/slideLayouts/slideLayout1.xml" Id="R51c72e6c4a6046e9" /><Relationship Type="http://schemas.openxmlformats.org/officeDocument/2006/relationships/slideLayout" Target="/ppt/slideLayouts/slideLayout2.xml" Id="R97f8b7ab4bae4f44" /><Relationship Type="http://schemas.openxmlformats.org/officeDocument/2006/relationships/slideLayout" Target="/ppt/slideLayouts/slideLayout3.xml" Id="R59281d2685914861" /><Relationship Type="http://schemas.openxmlformats.org/officeDocument/2006/relationships/slideLayout" Target="/ppt/slideLayouts/slideLayout4.xml" Id="Ra06a1ec4db2349cd" /><Relationship Type="http://schemas.openxmlformats.org/officeDocument/2006/relationships/slideLayout" Target="/ppt/slideLayouts/slideLayout5.xml" Id="R41372f9ffde5497d" /><Relationship Type="http://schemas.openxmlformats.org/officeDocument/2006/relationships/slideLayout" Target="/ppt/slideLayouts/slideLayout6.xml" Id="R43ca2f41cd534e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c72e6c4a6046e9"/>
    <p:sldLayoutId xmlns:r="http://schemas.openxmlformats.org/officeDocument/2006/relationships" id="2147483650" r:id="R97f8b7ab4bae4f44"/>
    <p:sldLayoutId xmlns:r="http://schemas.openxmlformats.org/officeDocument/2006/relationships" id="2147483651" r:id="R59281d2685914861"/>
    <p:sldLayoutId xmlns:r="http://schemas.openxmlformats.org/officeDocument/2006/relationships" id="2147483652" r:id="Ra06a1ec4db2349cd"/>
    <p:sldLayoutId xmlns:r="http://schemas.openxmlformats.org/officeDocument/2006/relationships" id="2147483653" r:id="R41372f9ffde5497d"/>
    <p:sldLayoutId xmlns:r="http://schemas.openxmlformats.org/officeDocument/2006/relationships" id="2147483654" r:id="R43ca2f41cd534e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adf8ad46d47ba" /><Relationship Type="http://schemas.openxmlformats.org/officeDocument/2006/relationships/notesSlide" Target="/ppt/notesSlides/notesSlide1.xml" Id="Rab5516ed3cff46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4689e15dd42e1" /><Relationship Type="http://schemas.openxmlformats.org/officeDocument/2006/relationships/notesSlide" Target="/ppt/notesSlides/notesSlide2.xml" Id="R660f6f247dba4c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29f1b72ac4fa1" /><Relationship Type="http://schemas.openxmlformats.org/officeDocument/2006/relationships/notesSlide" Target="/ppt/notesSlides/notesSlide3.xml" Id="R0c523bba40524a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0fd63e38ea4696" /><Relationship Type="http://schemas.openxmlformats.org/officeDocument/2006/relationships/notesSlide" Target="/ppt/notesSlides/notesSlide4.xml" Id="R27749c1366a546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1cee278224d9a" /><Relationship Type="http://schemas.openxmlformats.org/officeDocument/2006/relationships/notesSlide" Target="/ppt/notesSlides/notesSlide5.xml" Id="R5db420f5c5f742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ee62c18074b5c" /><Relationship Type="http://schemas.openxmlformats.org/officeDocument/2006/relationships/notesSlide" Target="/ppt/notesSlides/notesSlide6.xml" Id="R4839e46bc57b44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48a1664404848" /><Relationship Type="http://schemas.openxmlformats.org/officeDocument/2006/relationships/notesSlide" Target="/ppt/notesSlides/notesSlide7.xml" Id="Rbb289de0b8674d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c8f5459fb49c7" /><Relationship Type="http://schemas.openxmlformats.org/officeDocument/2006/relationships/notesSlide" Target="/ppt/notesSlides/notesSlide8.xml" Id="R1b161c5b56ca4a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f19a118954d6e" /><Relationship Type="http://schemas.openxmlformats.org/officeDocument/2006/relationships/notesSlide" Target="/ppt/notesSlides/notesSlide9.xml" Id="Rf8516af0afa747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6D614B-8599-4F75-B7D7-9F2614B5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4FA1D-0E9C-4801-82E2-8317E273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2D6C4"/>
                </a:solidFill>
              </a:defRPr>
            </a:pPr>
            <a:r>
              <a:rPr sz="1125" b="1">
                <a:solidFill>
                  <a:srgbClr val="42D6C4"/>
                </a:solidFill>
              </a:rPr>
              <a:t>CLOUD SCHEDULING  /  RESEARCH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CFE91-A315-4EA3-B133-C9A8461B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096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3F5F7"/>
                </a:solidFill>
              </a:defRPr>
            </a:pPr>
            <a:r>
              <a:rPr sz="3600" b="1">
                <a:solidFill>
                  <a:srgbClr val="F3F5F7"/>
                </a:solidFill>
              </a:rPr>
              <a:t>Random Forest–Augmented</a:t>
            </a:r>
          </a:p>
          <a:p xmlns:a="http://schemas.openxmlformats.org/drawingml/2006/main">
            <a:pPr algn="l">
              <a:defRPr sz="3600" b="1">
                <a:solidFill>
                  <a:srgbClr val="F3F5F7"/>
                </a:solidFill>
              </a:defRPr>
            </a:pPr>
            <a:r>
              <a:rPr sz="3600" b="1">
                <a:solidFill>
                  <a:srgbClr val="F3F5F7"/>
                </a:solidFill>
              </a:rPr>
              <a:t>Queueing for Cloud</a:t>
            </a:r>
          </a:p>
          <a:p xmlns:a="http://schemas.openxmlformats.org/drawingml/2006/main">
            <a:pPr algn="l">
              <a:defRPr sz="3600" b="1">
                <a:solidFill>
                  <a:srgbClr val="F3F5F7"/>
                </a:solidFill>
              </a:defRPr>
            </a:pPr>
            <a:r>
              <a:rPr sz="3600" b="1">
                <a:solidFill>
                  <a:srgbClr val="F3F5F7"/>
                </a:solidFill>
              </a:rPr>
              <a:t>Resource Scheduling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F9220-6D68-4CFB-9DC9-006298A3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BA9BA-AB59-43C0-A113-0101FA6D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9E4EF"/>
                </a:solidFill>
              </a:defRPr>
            </a:pPr>
            <a:r>
              <a:rPr sz="1800" b="0">
                <a:solidFill>
                  <a:srgbClr val="D9E4EF"/>
                </a:solidFill>
              </a:rPr>
              <a:t>Predict service demand. Model variability.</a:t>
            </a:r>
          </a:p>
          <a:p xmlns:a="http://schemas.openxmlformats.org/drawingml/2006/main">
            <a:pPr algn="l">
              <a:defRPr sz="1800" b="0">
                <a:solidFill>
                  <a:srgbClr val="D9E4EF"/>
                </a:solidFill>
              </a:defRPr>
            </a:pPr>
            <a:r>
              <a:rPr sz="1800" b="0">
                <a:solidFill>
                  <a:srgbClr val="D9E4EF"/>
                </a:solidFill>
              </a:rPr>
              <a:t>Provision workers against delay targets.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73FB6-ACD5-4EC1-8E78-240EA1C2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AB6C5"/>
                </a:solidFill>
              </a:defRPr>
            </a:pPr>
            <a:r>
              <a:rPr sz="1275" b="0">
                <a:solidFill>
                  <a:srgbClr val="AAB6C5"/>
                </a:solidFill>
              </a:rPr>
              <a:t>A simulation study of variability-aware autoscaling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0E26F-F30F-4667-B19C-1F99E401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3"/>
          </a:solidFill>
          <a:ln xmlns:a="http://schemas.openxmlformats.org/drawingml/2006/main" w="19050">
            <a:solidFill>
              <a:srgbClr val="3142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03D2D-FF01-47FB-B618-C31702FC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3F5F7"/>
                </a:solidFill>
              </a:defRPr>
            </a:pPr>
            <a:r>
              <a:rPr sz="1275" b="1">
                <a:solidFill>
                  <a:srgbClr val="F3F5F7"/>
                </a:solidFill>
              </a:rPr>
              <a:t>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FA86F-2B58-4D4E-872D-BDE406AF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146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886BE-E285-4459-9851-CD0784BD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3"/>
          </a:solidFill>
          <a:ln xmlns:a="http://schemas.openxmlformats.org/drawingml/2006/main" w="19050">
            <a:solidFill>
              <a:srgbClr val="3142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1FB12-18E9-4869-8005-D46BD0B9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3F5F7"/>
                </a:solidFill>
              </a:defRPr>
            </a:pPr>
            <a:r>
              <a:rPr sz="1275" b="1">
                <a:solidFill>
                  <a:srgbClr val="F3F5F7"/>
                </a:solidFill>
              </a:rPr>
              <a:t>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09C09-8047-48DC-9FEE-E42C50B2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146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E96BA-B607-4CBD-8BA6-7EB8903A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14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3"/>
          </a:solidFill>
          <a:ln xmlns:a="http://schemas.openxmlformats.org/drawingml/2006/main" w="19050">
            <a:solidFill>
              <a:srgbClr val="3142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AD6CB-B3B7-4DC0-AE52-075E2D9B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717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3F5F7"/>
                </a:solidFill>
              </a:defRPr>
            </a:pPr>
            <a:r>
              <a:rPr sz="1275" b="1">
                <a:solidFill>
                  <a:srgbClr val="F3F5F7"/>
                </a:solidFill>
              </a:rPr>
              <a:t>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F2057-A275-416F-9C5A-C627294D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146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AA038-4A70-46C4-88C1-613B7845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14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19050">
            <a:solidFill>
              <a:srgbClr val="F2B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AB603-4FD3-4E71-A641-E27E5054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717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B1424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B1424"/>
                </a:solidFill>
              </a:defRPr>
            </a:pPr>
            <a:r>
              <a:rPr sz="1275" b="1">
                <a:solidFill>
                  <a:srgbClr val="0B1424"/>
                </a:solidFill>
              </a:rPr>
              <a:t>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2F193-C5BC-4811-A854-15B12A0B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AB6C5"/>
                </a:solidFill>
              </a:defRPr>
            </a:pPr>
            <a:r>
              <a:rPr sz="1275" b="1">
                <a:solidFill>
                  <a:srgbClr val="AAB6C5"/>
                </a:solidFill>
              </a:rPr>
              <a:t>B(t)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31D5B-0D37-41A5-9B6B-DCC0B85F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004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AB6C5"/>
                </a:solidFill>
              </a:defRPr>
            </a:pPr>
            <a:r>
              <a:rPr sz="1275" b="1">
                <a:solidFill>
                  <a:srgbClr val="AAB6C5"/>
                </a:solidFill>
              </a:rPr>
              <a:t>Q(t)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327BE-653C-4E32-84CF-919245BF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D0A66-9AA2-483C-86AB-86B18AE2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48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C3F95-A81F-4064-A6D3-CB48AD49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48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Workers</a:t>
            </a:r>
          </a:p>
        </p:txBody>
      </p:sp>
    </p:spTree>
    <p:extLst>
      <p:ext uri="{BB962C8B-B14F-4D97-AF65-F5344CB8AC3E}">
        <p14:creationId xmlns:p14="http://schemas.microsoft.com/office/powerpoint/2010/main" val="2082746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0D1904-EAD9-4C8F-A660-2B9BC259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F5FDA-3D58-4495-A534-276611DD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42D6C4"/>
                </a:solidFill>
              </a:defRPr>
            </a:pPr>
            <a:r>
              <a:rPr sz="975" b="1">
                <a:solidFill>
                  <a:srgbClr val="42D6C4"/>
                </a:solidFill>
              </a:rPr>
              <a:t>SCHEDULING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790ED-E825-4EE4-A833-64905A6E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3F5F7"/>
                </a:solidFill>
              </a:defRPr>
            </a:pPr>
            <a:r>
              <a:rPr sz="2550" b="1">
                <a:solidFill>
                  <a:srgbClr val="F3F5F7"/>
                </a:solidFill>
              </a:rPr>
              <a:t>Why queue length alone is not enough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D4C75-0DDB-4224-AB6C-EBA7E14D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A35FE-89B3-491E-8322-F94542D7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AAB6C5"/>
                </a:solidFill>
              </a:defRPr>
            </a:pPr>
            <a:r>
              <a:rPr sz="900" b="1">
                <a:solidFill>
                  <a:srgbClr val="AAB6C5"/>
                </a:solidFill>
              </a:rPr>
              <a:t>RANDOM FOREST–AUGMENTED QUEUEING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25BF9-33A1-4355-97E5-11B77B68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53F7A-A470-464A-AA45-E691991E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9E4EF"/>
                </a:solidFill>
              </a:defRPr>
            </a:pPr>
            <a:r>
              <a:rPr sz="1875" b="1">
                <a:solidFill>
                  <a:srgbClr val="D9E4EF"/>
                </a:solidFill>
              </a:rPr>
              <a:t>Two systems can have the same backlog and very different delay risk.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7588C-74F2-4049-8346-DFEDEE02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2D6C4"/>
                </a:solidFill>
              </a:defRPr>
            </a:pPr>
            <a:r>
              <a:rPr sz="1125" b="1">
                <a:solidFill>
                  <a:srgbClr val="42D6C4"/>
                </a:solidFill>
              </a:rPr>
              <a:t>SMOOTH ARRIVALS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BB5FB-D3CF-40A4-A3D9-7609E9DD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2B95E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2B95E"/>
                </a:solidFill>
              </a:defRPr>
            </a:pPr>
            <a:r>
              <a:rPr sz="1125" b="1">
                <a:solidFill>
                  <a:srgbClr val="F2B95E"/>
                </a:solidFill>
              </a:rPr>
              <a:t>BURSTY ARRIVALS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78006-87D7-491F-9C2C-BCF47D7D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82E4F-B5A6-450A-8F42-0AA1633D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6AF8F-C212-4740-98FE-F1DBA8DE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726D8-3B0E-41D0-BBC2-FD11217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3370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6A3EE-F2DD-483E-961C-22AF2E69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813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A88DC-5288-49D8-9A02-21FC78D6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3370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23EAB-BF2D-456D-A42E-11ED93EF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3370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CAD5F-8FF5-4720-BFC2-AFF0F5BF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209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D0317-12ED-40CE-85F5-3C27CEC7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9BC91-4B2D-493F-B46E-E3E7969A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28061-DCA4-43FF-BC36-2B95E4D0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05CCB4-2942-47BC-9766-B4674546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3B07F-8370-492C-8415-4449C0C2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76B5D-D12A-45A3-BBC9-E68310D8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209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BD3964-4807-4466-8DBA-4536F994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7C71C-FBEE-4307-AA35-38CFA2BE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33700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768F71-2883-499C-B0DC-5923B220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3B3CB2-8E2D-4EED-90E6-432926EB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19350"/>
            <a:ext cx="209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065A97-1F85-4F53-8A73-C281856F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1663A0-ACE4-4EA2-A37D-D8963EC5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215830-D223-4018-928E-0332D196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5"/>
                </a:solidFill>
              </a:defRPr>
            </a:pPr>
            <a:r>
              <a:rPr sz="1350" b="0">
                <a:solidFill>
                  <a:srgbClr val="AAB6C5"/>
                </a:solidFill>
              </a:rPr>
              <a:t>Similar average arrival rate (λ)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79830A-E550-44A1-89FF-B9B286B1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5"/>
                </a:solidFill>
              </a:defRPr>
            </a:pPr>
            <a:r>
              <a:rPr sz="1350" b="0">
                <a:solidFill>
                  <a:srgbClr val="AAB6C5"/>
                </a:solidFill>
              </a:rPr>
              <a:t>Higher arrival variability (Cₐ²)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426BE4-A614-42A2-9C51-FB1E0E13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F26997-D307-44F5-85AC-DE9BABB8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445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3F5F7"/>
                </a:solidFill>
              </a:defRPr>
            </a:pPr>
            <a:r>
              <a:rPr sz="1500" b="0">
                <a:solidFill>
                  <a:srgbClr val="F3F5F7"/>
                </a:solidFill>
              </a:rPr>
              <a:t>Backlog-only signals react after work has accumulated.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D4C7CB-E1DF-4FAE-BD14-38305C56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1AF343-88B0-445E-83D3-DCE080C4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3F5F7"/>
                </a:solidFill>
              </a:defRPr>
            </a:pPr>
            <a:r>
              <a:rPr sz="1500" b="0">
                <a:solidFill>
                  <a:srgbClr val="F3F5F7"/>
                </a:solidFill>
              </a:rPr>
              <a:t>Arrival clustering raises delay risk at the same average load.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672D4E-019F-4908-8A6B-EBFAD0C6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42D6C4"/>
                </a:solidFill>
              </a:defRPr>
            </a:pPr>
            <a:r>
              <a:rPr sz="1200" b="1">
                <a:solidFill>
                  <a:srgbClr val="42D6C4"/>
                </a:solidFill>
              </a:rPr>
              <a:t>Goal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8E5BB7-A7CB-48EC-9E65-572F7321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197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3F5F7"/>
                </a:solidFill>
              </a:defRPr>
            </a:pPr>
            <a:r>
              <a:rPr sz="1725" b="1">
                <a:solidFill>
                  <a:srgbClr val="F3F5F7"/>
                </a:solidFill>
              </a:rPr>
              <a:t>Use predicted service demand and arrival/service variability to choose worker capacity before SLA delay grows.</a:t>
            </a:r>
          </a:p>
        </p:txBody>
      </p:sp>
    </p:spTree>
    <p:extLst>
      <p:ext uri="{BB962C8B-B14F-4D97-AF65-F5344CB8AC3E}">
        <p14:creationId xmlns:p14="http://schemas.microsoft.com/office/powerpoint/2010/main" val="248978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BC7A9E-5ACF-425B-B99A-4A60A83D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D0156-6EB4-453B-91A4-336E02DF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42D6C4"/>
                </a:solidFill>
              </a:defRPr>
            </a:pPr>
            <a:r>
              <a:rPr sz="975" b="1">
                <a:solidFill>
                  <a:srgbClr val="42D6C4"/>
                </a:solidFill>
              </a:rPr>
              <a:t>SYSTEM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ED981-CA45-4007-B130-45C6DEC7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3F5F7"/>
                </a:solidFill>
              </a:defRPr>
            </a:pPr>
            <a:r>
              <a:rPr sz="2550" b="1">
                <a:solidFill>
                  <a:srgbClr val="F3F5F7"/>
                </a:solidFill>
              </a:rPr>
              <a:t>Separate buffering from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E97E2-5D94-4C70-BDBF-4994926A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D72AF-1B98-4B2F-B5D9-3B968136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AAB6C5"/>
                </a:solidFill>
              </a:defRPr>
            </a:pPr>
            <a:r>
              <a:rPr sz="900" b="1">
                <a:solidFill>
                  <a:srgbClr val="AAB6C5"/>
                </a:solidFill>
              </a:rPr>
              <a:t>RANDOM FOREST–AUGMENTED QUEUEING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AF31B-B578-48C1-AE32-EED6BFAF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4D8B3-45C3-4C36-AF7D-3BEB858E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D9E4EF"/>
                </a:solidFill>
              </a:defRPr>
            </a:pPr>
            <a:r>
              <a:rPr sz="1725" b="1">
                <a:solidFill>
                  <a:srgbClr val="D9E4EF"/>
                </a:solidFill>
              </a:rPr>
              <a:t>Ingress and execution are different states, so the controller tracks both.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27994-2DCD-490F-AB94-6075861C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0DA31-96FF-4167-92CD-1FBC6D41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78A9FF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78A9FF"/>
                </a:solidFill>
              </a:defRPr>
            </a:pPr>
            <a:r>
              <a:rPr sz="1275" b="1">
                <a:solidFill>
                  <a:srgbClr val="78A9FF"/>
                </a:solidFill>
              </a:rPr>
              <a:t>REQUESTS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54563-24CB-4CDC-9D2B-B5F7ED74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3F5F7"/>
                </a:solidFill>
              </a:defRPr>
            </a:pPr>
            <a:r>
              <a:rPr sz="1500" b="0">
                <a:solidFill>
                  <a:srgbClr val="F3F5F7"/>
                </a:solidFill>
              </a:rPr>
              <a:t>CPU • RAM • type</a:t>
            </a:r>
          </a:p>
          <a:p xmlns:a="http://schemas.openxmlformats.org/drawingml/2006/main">
            <a:pPr algn="l">
              <a:defRPr sz="1500" b="0">
                <a:solidFill>
                  <a:srgbClr val="F3F5F7"/>
                </a:solidFill>
              </a:defRPr>
            </a:pPr>
            <a:r>
              <a:rPr sz="1500" b="0">
                <a:solidFill>
                  <a:srgbClr val="F3F5F7"/>
                </a:solidFill>
              </a:rPr>
              <a:t>arrival timestamps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E43C0-D7EB-4F24-8351-1F242117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812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DDC26-3018-429C-B6F4-2B023216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09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2B95E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B95E"/>
                </a:solidFill>
              </a:defRPr>
            </a:pPr>
            <a:r>
              <a:rPr sz="1275" b="1">
                <a:solidFill>
                  <a:srgbClr val="F2B95E"/>
                </a:solidFill>
              </a:rPr>
              <a:t>BUFFER  B(t)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609F4-C179-42EA-9677-65187790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480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3F5F7"/>
                </a:solidFill>
              </a:defRPr>
            </a:pPr>
            <a:r>
              <a:rPr sz="1500" b="0">
                <a:solidFill>
                  <a:srgbClr val="F3F5F7"/>
                </a:solidFill>
              </a:rPr>
              <a:t>Absorbs ingress bursts</a:t>
            </a:r>
          </a:p>
          <a:p xmlns:a="http://schemas.openxmlformats.org/drawingml/2006/main">
            <a:pPr algn="l">
              <a:defRPr sz="1500" b="0">
                <a:solidFill>
                  <a:srgbClr val="F3F5F7"/>
                </a:solidFill>
              </a:defRPr>
            </a:pPr>
            <a:r>
              <a:rPr sz="1500" b="0">
                <a:solidFill>
                  <a:srgbClr val="F3F5F7"/>
                </a:solidFill>
              </a:rPr>
              <a:t>Tracks overflow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60DC7-6D5F-45F7-A7D0-04EED6B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812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0CFE1-5959-48F6-BBD8-973087D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609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2D6C4"/>
                </a:solidFill>
              </a:defRPr>
            </a:pPr>
            <a:r>
              <a:rPr sz="1275" b="1">
                <a:solidFill>
                  <a:srgbClr val="42D6C4"/>
                </a:solidFill>
              </a:rPr>
              <a:t>QUEUE  Q(t)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F6A12-1E97-46A5-B550-EBB1F7CB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480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3F5F7"/>
                </a:solidFill>
              </a:defRPr>
            </a:pPr>
            <a:r>
              <a:rPr sz="1500" b="0">
                <a:solidFill>
                  <a:srgbClr val="F3F5F7"/>
                </a:solidFill>
              </a:rPr>
              <a:t>Admitted work awaiting</a:t>
            </a:r>
          </a:p>
          <a:p xmlns:a="http://schemas.openxmlformats.org/drawingml/2006/main">
            <a:pPr algn="l">
              <a:defRPr sz="1500" b="0">
                <a:solidFill>
                  <a:srgbClr val="F3F5F7"/>
                </a:solidFill>
              </a:defRPr>
            </a:pPr>
            <a:r>
              <a:rPr sz="1500" b="0">
                <a:solidFill>
                  <a:srgbClr val="F3F5F7"/>
                </a:solidFill>
              </a:rPr>
              <a:t>worker dispatch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18BE3-EDAE-4AA0-83B9-E7E514BF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640C2-6188-4B75-8061-D90CCD00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78A9FF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78A9FF"/>
                </a:solidFill>
              </a:defRPr>
            </a:pPr>
            <a:r>
              <a:rPr sz="1275" b="1">
                <a:solidFill>
                  <a:srgbClr val="78A9FF"/>
                </a:solidFill>
              </a:rPr>
              <a:t>WORKERS  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13BB3-6499-4DE0-8F45-85B33AB2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3F5F7"/>
                </a:solidFill>
              </a:defRPr>
            </a:pPr>
            <a:r>
              <a:rPr sz="1500" b="0">
                <a:solidFill>
                  <a:srgbClr val="F3F5F7"/>
                </a:solidFill>
              </a:rPr>
              <a:t>Execute tasks at rate μ</a:t>
            </a:r>
          </a:p>
          <a:p xmlns:a="http://schemas.openxmlformats.org/drawingml/2006/main">
            <a:pPr algn="l">
              <a:defRPr sz="1500" b="0">
                <a:solidFill>
                  <a:srgbClr val="F3F5F7"/>
                </a:solidFill>
              </a:defRPr>
            </a:pPr>
            <a:r>
              <a:rPr sz="1500" b="0">
                <a:solidFill>
                  <a:srgbClr val="F3F5F7"/>
                </a:solidFill>
              </a:rPr>
              <a:t>Scale up / down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8AD93-7C38-4A11-B32B-A7CEA8E9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180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6B86E-E333-4068-98C1-E03DA2A1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26289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42D6C4"/>
                </a:solidFill>
              </a:defRPr>
            </a:pPr>
            <a:r>
              <a:rPr sz="1950" b="1">
                <a:solidFill>
                  <a:srgbClr val="42D6C4"/>
                </a:solidFill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740E0-0CC1-4E98-8C1B-BF94981B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003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1C349-7F88-44BC-9525-EDEE2700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289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42D6C4"/>
                </a:solidFill>
              </a:defRPr>
            </a:pPr>
            <a:r>
              <a:rPr sz="1950" b="1">
                <a:solidFill>
                  <a:srgbClr val="42D6C4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C1C84-5B02-4C61-9A55-E0C7E1F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00350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8332D-4F5E-4553-801E-49F947DA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838" y="26289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42D6C4"/>
                </a:solidFill>
              </a:defRPr>
            </a:pPr>
            <a:r>
              <a:rPr sz="1950" b="1">
                <a:solidFill>
                  <a:srgbClr val="42D6C4"/>
                </a:solidFill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3DECC-DF30-4704-8E63-089197DB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67175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8A085-00FB-4C68-9002-48A7862E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291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AB6C5"/>
                </a:solidFill>
              </a:defRPr>
            </a:pPr>
            <a:r>
              <a:rPr sz="1200" b="0">
                <a:solidFill>
                  <a:srgbClr val="AAB6C5"/>
                </a:solidFill>
              </a:rPr>
              <a:t>telemetry: latency • capacity • overflow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994C35-E324-4B4F-8C99-A4CF732D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006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1521A-EA8F-45B1-AC06-6AF44D14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D9E4EF"/>
                </a:solidFill>
              </a:defRPr>
            </a:pPr>
            <a:r>
              <a:rPr sz="1425" b="1">
                <a:solidFill>
                  <a:srgbClr val="D9E4EF"/>
                </a:solidFill>
              </a:rPr>
              <a:t>Feedback updates workload estimates and the next capacity decision</a:t>
            </a:r>
          </a:p>
        </p:txBody>
      </p:sp>
    </p:spTree>
    <p:extLst>
      <p:ext uri="{BB962C8B-B14F-4D97-AF65-F5344CB8AC3E}">
        <p14:creationId xmlns:p14="http://schemas.microsoft.com/office/powerpoint/2010/main" val="905719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4640B8-3754-4144-9D9E-1CAEE1C7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4F514-20FC-4158-A34E-93A62085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42D6C4"/>
                </a:solidFill>
              </a:defRPr>
            </a:pPr>
            <a:r>
              <a:rPr sz="975" b="1">
                <a:solidFill>
                  <a:srgbClr val="42D6C4"/>
                </a:solidFill>
              </a:rPr>
              <a:t>PREDICTION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A0456-965D-40BA-8032-3F0B1AC4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3F5F7"/>
                </a:solidFill>
              </a:defRPr>
            </a:pPr>
            <a:r>
              <a:rPr sz="2550" b="1">
                <a:solidFill>
                  <a:srgbClr val="F3F5F7"/>
                </a:solidFill>
              </a:rPr>
              <a:t>Random Forest estimates task service demand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4D8EF-D944-4334-A4B5-8D340EE2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4FF14-A52B-451A-846B-294C4D17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AAB6C5"/>
                </a:solidFill>
              </a:defRPr>
            </a:pPr>
            <a:r>
              <a:rPr sz="900" b="1">
                <a:solidFill>
                  <a:srgbClr val="AAB6C5"/>
                </a:solidFill>
              </a:rPr>
              <a:t>RANDOM FOREST–AUGMENTED QUEUEING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07571-B8A3-4AFC-B091-DAF9E810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B9435-03E4-4EB4-BB0A-EF9C014E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2D6C4"/>
                </a:solidFill>
              </a:defRPr>
            </a:pPr>
            <a:r>
              <a:rPr sz="1125" b="1">
                <a:solidFill>
                  <a:srgbClr val="42D6C4"/>
                </a:solidFill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023B9-8871-43CF-9601-4402C4BF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3F5F7"/>
                </a:solidFill>
              </a:defRPr>
            </a:pPr>
            <a:r>
              <a:rPr sz="1650" b="1">
                <a:solidFill>
                  <a:srgbClr val="F3F5F7"/>
                </a:solidFill>
              </a:rPr>
              <a:t>CPU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45897-13D7-44B5-AFCC-C344589F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AB6C5"/>
                </a:solidFill>
              </a:defRPr>
            </a:pPr>
            <a:r>
              <a:rPr sz="1200" b="0">
                <a:solidFill>
                  <a:srgbClr val="AAB6C5"/>
                </a:solidFill>
              </a:rPr>
              <a:t>virtual cores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90D7A-9957-4A21-ABF6-1EC825D3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336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7CD8D-FE2B-48D5-82D6-489EA05E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3F5F7"/>
                </a:solidFill>
              </a:defRPr>
            </a:pPr>
            <a:r>
              <a:rPr sz="1650" b="1">
                <a:solidFill>
                  <a:srgbClr val="F3F5F7"/>
                </a:solidFill>
              </a:rPr>
              <a:t>RAM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EC371-27C0-4897-89D6-DE3ED1BC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AB6C5"/>
                </a:solidFill>
              </a:defRPr>
            </a:pPr>
            <a:r>
              <a:rPr sz="1200" b="0">
                <a:solidFill>
                  <a:srgbClr val="AAB6C5"/>
                </a:solidFill>
              </a:rPr>
              <a:t>GB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AD83E-FED9-4616-A8F9-407C4AE3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99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FC685-A4D6-42FF-9AD8-2F015095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3F5F7"/>
                </a:solidFill>
              </a:defRPr>
            </a:pPr>
            <a:r>
              <a:rPr sz="1650" b="1">
                <a:solidFill>
                  <a:srgbClr val="F3F5F7"/>
                </a:solidFill>
              </a:rPr>
              <a:t>Workload 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6F554-E957-433D-977A-F3629C94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AB6C5"/>
                </a:solidFill>
              </a:defRPr>
            </a:pPr>
            <a:r>
              <a:rPr sz="1200" b="0">
                <a:solidFill>
                  <a:srgbClr val="AAB6C5"/>
                </a:solidFill>
              </a:rPr>
              <a:t>web • compute • 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8BD72-AF8E-4478-98F8-4A8F6D9B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862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40A35-926B-4412-A919-21C8A87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3365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3F5F7"/>
                </a:solidFill>
              </a:defRPr>
            </a:pPr>
            <a:r>
              <a:rPr sz="2325" b="1">
                <a:solidFill>
                  <a:srgbClr val="F3F5F7"/>
                </a:solidFill>
              </a:rPr>
              <a:t>Random</a:t>
            </a:r>
          </a:p>
          <a:p xmlns:a="http://schemas.openxmlformats.org/drawingml/2006/main">
            <a:pPr algn="ctr">
              <a:defRPr sz="2325" b="1">
                <a:solidFill>
                  <a:srgbClr val="F3F5F7"/>
                </a:solidFill>
              </a:defRPr>
            </a:pPr>
            <a:r>
              <a:rPr sz="2325" b="1">
                <a:solidFill>
                  <a:srgbClr val="F3F5F7"/>
                </a:solidFill>
              </a:rPr>
              <a:t>Forest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4B8C2-8EC7-4D05-A143-7F580278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D6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5F7BC-8420-4EB7-9243-1A2E5D67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718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29F64-9797-451D-AD91-5E5E8794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42D6C4"/>
                </a:solidFill>
              </a:defRPr>
            </a:pPr>
            <a:r>
              <a:rPr sz="2250" b="1">
                <a:solidFill>
                  <a:srgbClr val="42D6C4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9E34E-B66A-40A0-91C9-7F553E75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47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3F5F7"/>
                </a:solidFill>
              </a:defRPr>
            </a:pPr>
            <a:r>
              <a:rPr sz="1650" b="1">
                <a:solidFill>
                  <a:srgbClr val="F3F5F7"/>
                </a:solidFill>
              </a:rPr>
              <a:t>Predicted service time Ŝᵢ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753EF-E636-47F4-8637-1CA977B1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05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AB6C5"/>
                </a:solidFill>
              </a:defRPr>
            </a:pPr>
            <a:r>
              <a:rPr sz="1275" b="0">
                <a:solidFill>
                  <a:srgbClr val="AAB6C5"/>
                </a:solidFill>
              </a:rPr>
              <a:t>Across requests, estimate: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18A8C-9B06-40A4-9649-8C9F0616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8610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42D6C4"/>
                </a:solidFill>
              </a:defRPr>
            </a:pPr>
            <a:r>
              <a:rPr sz="1800" b="1">
                <a:solidFill>
                  <a:srgbClr val="42D6C4"/>
                </a:solidFill>
              </a:rPr>
              <a:t>μ̂ = 1 / E[Ŝ]      Ĉₛ² = Var(Ŝ) / E[Ŝ]²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FD3AA-5170-49D7-9DCC-C7BC0B11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62FBF0-E4F5-40E2-A593-A169C217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2B95E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2B95E"/>
                </a:solidFill>
              </a:defRPr>
            </a:pPr>
            <a:r>
              <a:rPr sz="1125" b="1">
                <a:solidFill>
                  <a:srgbClr val="F2B95E"/>
                </a:solidFill>
              </a:rPr>
              <a:t>Current evidence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DA3E28-6A58-4167-81B8-2A5E7B9C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9E4EF"/>
                </a:solidFill>
              </a:defRPr>
            </a:pPr>
            <a:r>
              <a:rPr sz="1575" b="0">
                <a:solidFill>
                  <a:srgbClr val="D9E4EF"/>
                </a:solidFill>
              </a:rPr>
              <a:t>The benchmark trains on synthetic CPU/RAM/type-to-runtime data. The results show simulator behavior, not production-cloud performance.</a:t>
            </a:r>
          </a:p>
        </p:txBody>
      </p:sp>
    </p:spTree>
    <p:extLst>
      <p:ext uri="{BB962C8B-B14F-4D97-AF65-F5344CB8AC3E}">
        <p14:creationId xmlns:p14="http://schemas.microsoft.com/office/powerpoint/2010/main" val="886793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EC51E-4B2B-482D-B813-4CBE1717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F5C08-A814-4442-A4AB-DF454A30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42D6C4"/>
                </a:solidFill>
              </a:defRPr>
            </a:pPr>
            <a:r>
              <a:rPr sz="975" b="1">
                <a:solidFill>
                  <a:srgbClr val="42D6C4"/>
                </a:solidFill>
              </a:rPr>
              <a:t>DECISION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C7A03-872E-4E9B-9D20-891DA204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3F5F7"/>
                </a:solidFill>
              </a:defRPr>
            </a:pPr>
            <a:r>
              <a:rPr sz="2550" b="1">
                <a:solidFill>
                  <a:srgbClr val="F3F5F7"/>
                </a:solidFill>
              </a:rPr>
              <a:t>Queueing estimates delay; variability tightens the 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284CC-D21A-4E5E-883A-0E8B37CC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EB8B7-AFFE-41E7-8CDD-761B6A8C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AAB6C5"/>
                </a:solidFill>
              </a:defRPr>
            </a:pPr>
            <a:r>
              <a:rPr sz="900" b="1">
                <a:solidFill>
                  <a:srgbClr val="AAB6C5"/>
                </a:solidFill>
              </a:rPr>
              <a:t>RANDOM FOREST–AUGMENTED QUEUEING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91E31-2337-4B02-A5B7-0AFFAA06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4AB74-34A3-40F9-AF59-F2E2D09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78A9FF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78A9FF"/>
                </a:solidFill>
              </a:defRPr>
            </a:pPr>
            <a:r>
              <a:rPr sz="1125" b="1">
                <a:solidFill>
                  <a:srgbClr val="78A9FF"/>
                </a:solidFill>
              </a:rPr>
              <a:t>Arrival stream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9EBE2-A95B-4EEC-A108-F11112F7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3F5F7"/>
                </a:solidFill>
              </a:defRPr>
            </a:pPr>
            <a:r>
              <a:rPr sz="1875" b="1">
                <a:solidFill>
                  <a:srgbClr val="F3F5F7"/>
                </a:solidFill>
              </a:rPr>
              <a:t>λ, Cₐ²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3A750-6CF4-4575-9C22-84FABE89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049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2D6C4"/>
                </a:solidFill>
              </a:defRPr>
            </a:pPr>
            <a:r>
              <a:rPr sz="1125" b="1">
                <a:solidFill>
                  <a:srgbClr val="42D6C4"/>
                </a:solidFill>
              </a:rPr>
              <a:t>Service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996A2-379E-4693-9432-3F32F9C1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3F5F7"/>
                </a:solidFill>
              </a:defRPr>
            </a:pPr>
            <a:r>
              <a:rPr sz="1875" b="1">
                <a:solidFill>
                  <a:srgbClr val="F3F5F7"/>
                </a:solidFill>
              </a:rPr>
              <a:t>μ̂, Ĉₛ²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D1CFC-7810-4A15-9663-CFA2915B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049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2B95E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2B95E"/>
                </a:solidFill>
              </a:defRPr>
            </a:pPr>
            <a:r>
              <a:rPr sz="1125" b="1">
                <a:solidFill>
                  <a:srgbClr val="F2B95E"/>
                </a:solidFill>
              </a:rPr>
              <a:t>Candidate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06D45-0DD9-4671-9A9D-3FA405BE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3F5F7"/>
                </a:solidFill>
              </a:defRPr>
            </a:pPr>
            <a:r>
              <a:rPr sz="1875" b="1">
                <a:solidFill>
                  <a:srgbClr val="F3F5F7"/>
                </a:solidFill>
              </a:rPr>
              <a:t>k workers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BA5D5-9BEA-41D0-AE59-6B36B33F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574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B3F88-6614-4A0B-A0CA-9EA4DEC2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859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AB6C5"/>
                </a:solidFill>
              </a:defRPr>
            </a:pPr>
            <a:r>
              <a:rPr sz="1800" b="1">
                <a:solidFill>
                  <a:srgbClr val="AAB6C5"/>
                </a:solidFill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05B14-E7C1-4F63-B1CA-26827864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574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14403-1B6C-438D-997B-BF3D5141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859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AB6C5"/>
                </a:solidFill>
              </a:defRPr>
            </a:pPr>
            <a:r>
              <a:rPr sz="1800" b="1">
                <a:solidFill>
                  <a:srgbClr val="AAB6C5"/>
                </a:solidFill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9E06E-C236-41B2-8D7C-F54603DB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3"/>
          </a:solidFill>
          <a:ln xmlns:a="http://schemas.openxmlformats.org/drawingml/2006/main" w="9525">
            <a:solidFill>
              <a:srgbClr val="3142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E2946-3124-48D9-988D-4D791C54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2D6C4"/>
                </a:solidFill>
              </a:defRPr>
            </a:pPr>
            <a:r>
              <a:rPr sz="1125" b="1">
                <a:solidFill>
                  <a:srgbClr val="42D6C4"/>
                </a:solidFill>
              </a:rPr>
              <a:t>G/G/k approximation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EC1F9-F912-4576-AE86-A03472D3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3F5F7"/>
                </a:solidFill>
              </a:defRPr>
            </a:pPr>
            <a:r>
              <a:rPr sz="2100" b="1">
                <a:solidFill>
                  <a:srgbClr val="F3F5F7"/>
                </a:solidFill>
              </a:rPr>
              <a:t>Wq ≈ [(Cₐ² + Cₛ²) / 2] × Wq(M/M/k)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72422-C662-44C8-BE2B-FF0310E5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A937B-B0C1-4A3D-8B50-FC1EEEE3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3F5F7"/>
                </a:solidFill>
              </a:defRPr>
            </a:pPr>
            <a:r>
              <a:rPr sz="1425" b="0">
                <a:solidFill>
                  <a:srgbClr val="F3F5F7"/>
                </a:solidFill>
              </a:rPr>
              <a:t>Add a backlog-drain term: Q(t) / (k μ).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1C6B4-DE10-4502-A0BA-924F3150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80FDB-1777-446C-8A2F-F501D383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005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3F5F7"/>
                </a:solidFill>
              </a:defRPr>
            </a:pPr>
            <a:r>
              <a:rPr sz="1425" b="0">
                <a:solidFill>
                  <a:srgbClr val="F3F5F7"/>
                </a:solidFill>
              </a:rPr>
              <a:t>Select the smallest feasible k that meets the effective delay target.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E5275-F088-4A82-8679-F09471C8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B95E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2B95E"/>
                </a:solidFill>
              </a:defRPr>
            </a:pPr>
            <a:r>
              <a:rPr sz="1425" b="1">
                <a:solidFill>
                  <a:srgbClr val="F2B95E"/>
                </a:solidFill>
              </a:rPr>
              <a:t>Bursty arrivals: Cₐ² &gt; 1.5  →  0.8 × SLA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E0080-03E4-4826-9B29-D0A176E4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149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2D6C4"/>
                </a:solidFill>
              </a:defRPr>
            </a:pPr>
            <a:r>
              <a:rPr sz="1425" b="1">
                <a:solidFill>
                  <a:srgbClr val="42D6C4"/>
                </a:solidFill>
              </a:rPr>
              <a:t>Smooth arrivals: Cₐ² ≤ 0.5  →  1.0 × SLA</a:t>
            </a:r>
          </a:p>
        </p:txBody>
      </p:sp>
    </p:spTree>
    <p:extLst>
      <p:ext uri="{BB962C8B-B14F-4D97-AF65-F5344CB8AC3E}">
        <p14:creationId xmlns:p14="http://schemas.microsoft.com/office/powerpoint/2010/main" val="113543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55E979-9975-4A6E-9B48-BE380E9A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F1E2B-94A5-467C-A361-9C8D0582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42D6C4"/>
                </a:solidFill>
              </a:defRPr>
            </a:pPr>
            <a:r>
              <a:rPr sz="975" b="1">
                <a:solidFill>
                  <a:srgbClr val="42D6C4"/>
                </a:solidFill>
              </a:rPr>
              <a:t>CONTROL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89A63-A20F-41B3-BCB4-B8FCE4DE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3F5F7"/>
                </a:solidFill>
              </a:defRPr>
            </a:pPr>
            <a:r>
              <a:rPr sz="2550" b="1">
                <a:solidFill>
                  <a:srgbClr val="F3F5F7"/>
                </a:solidFill>
              </a:rPr>
              <a:t>A feedback loop turns delay risk into capacity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2D768-D368-4484-86D8-9B66F401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4FFF8-593E-452A-9146-2682C467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AAB6C5"/>
                </a:solidFill>
              </a:defRPr>
            </a:pPr>
            <a:r>
              <a:rPr sz="900" b="1">
                <a:solidFill>
                  <a:srgbClr val="AAB6C5"/>
                </a:solidFill>
              </a:rPr>
              <a:t>RANDOM FOREST–AUGMENTED QUEUEING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4D1DF-A10D-43A3-8DDA-9F3AE62E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FDE7D-43D3-4F5F-A858-2D9E1984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2D6C4"/>
                </a:solidFill>
              </a:defRPr>
            </a:pPr>
            <a:r>
              <a:rPr sz="2100" b="1">
                <a:solidFill>
                  <a:srgbClr val="42D6C4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AB4B9-1F4A-4B1C-B280-8750660E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F89C7-CDBD-4A83-82B4-384A3577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3F5F7"/>
                </a:solidFill>
              </a:defRPr>
            </a:pPr>
            <a:r>
              <a:rPr sz="1425" b="1">
                <a:solidFill>
                  <a:srgbClr val="F3F5F7"/>
                </a:solidFill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5E0CC-A5A0-489E-B4D0-87A3404A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AB6C5"/>
                </a:solidFill>
              </a:defRPr>
            </a:pPr>
            <a:r>
              <a:rPr sz="1275" b="0">
                <a:solidFill>
                  <a:srgbClr val="AAB6C5"/>
                </a:solidFill>
              </a:rPr>
              <a:t>arrivals • B(t) • Q(t)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FF051-44A6-4105-95DA-11D80403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64DC2-CF31-48F5-8896-F7E0CCA4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717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9E4EF"/>
                </a:solidFill>
              </a:defRPr>
            </a:pPr>
            <a:r>
              <a:rPr sz="2175" b="1">
                <a:solidFill>
                  <a:srgbClr val="D9E4EF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FED15-96DD-4B54-927B-1653909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209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2D6C4"/>
                </a:solidFill>
              </a:defRPr>
            </a:pPr>
            <a:r>
              <a:rPr sz="2100" b="1">
                <a:solidFill>
                  <a:srgbClr val="42D6C4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A7675-E3BC-4F72-ADC7-604A3812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336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56563-B7CD-4CAD-AF4E-D67E72BA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971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3F5F7"/>
                </a:solidFill>
              </a:defRPr>
            </a:pPr>
            <a:r>
              <a:rPr sz="1425" b="1">
                <a:solidFill>
                  <a:srgbClr val="F3F5F7"/>
                </a:solidFill>
              </a:rPr>
              <a:t>Estimate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FE296-5169-44F8-A29C-4611A55A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528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AB6C5"/>
                </a:solidFill>
              </a:defRPr>
            </a:pPr>
            <a:r>
              <a:rPr sz="1275" b="0">
                <a:solidFill>
                  <a:srgbClr val="AAB6C5"/>
                </a:solidFill>
              </a:rPr>
              <a:t>λ, μ, Cₐ², Cₛ²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0AB22-DBB8-4146-813E-DAF84BF9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43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6CFDF-1748-42FD-A4F9-0AD1A1F3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717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9E4EF"/>
                </a:solidFill>
              </a:defRPr>
            </a:pPr>
            <a:r>
              <a:rPr sz="2175" b="1">
                <a:solidFill>
                  <a:srgbClr val="D9E4EF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C9813-3146-4BF2-A175-2F776114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2D6C4"/>
                </a:solidFill>
              </a:defRPr>
            </a:pPr>
            <a:r>
              <a:rPr sz="2100" b="1">
                <a:solidFill>
                  <a:srgbClr val="42D6C4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09DDB-524B-4C3E-97DE-5E67E59C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336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E2DA4-7FD0-456E-A3B6-6D4AD584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71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3F5F7"/>
                </a:solidFill>
              </a:defRPr>
            </a:pPr>
            <a:r>
              <a:rPr sz="1425" b="1">
                <a:solidFill>
                  <a:srgbClr val="F3F5F7"/>
                </a:solidFill>
              </a:rPr>
              <a:t>Predict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6B8817-3D10-4A66-927C-6606972E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528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AB6C5"/>
                </a:solidFill>
              </a:defRPr>
            </a:pPr>
            <a:r>
              <a:rPr sz="1275" b="0">
                <a:solidFill>
                  <a:srgbClr val="AAB6C5"/>
                </a:solidFill>
              </a:rPr>
              <a:t>candidate G/G/k delay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E14B3-45B4-446F-9828-DBD925CC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43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F960F-B085-4771-AA72-870F0FF7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9E4EF"/>
                </a:solidFill>
              </a:defRPr>
            </a:pPr>
            <a:r>
              <a:rPr sz="2175" b="1">
                <a:solidFill>
                  <a:srgbClr val="D9E4EF"/>
                </a:solidFill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664D1D-450C-44A7-BE8E-44E244C3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09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2D6C4"/>
                </a:solidFill>
              </a:defRPr>
            </a:pPr>
            <a:r>
              <a:rPr sz="2100" b="1">
                <a:solidFill>
                  <a:srgbClr val="42D6C4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AA6422-6B11-4690-888F-C2B2CC6C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336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D7540-B437-4F8C-BB77-2EB7A392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71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3F5F7"/>
                </a:solidFill>
              </a:defRPr>
            </a:pPr>
            <a:r>
              <a:rPr sz="1425" b="1">
                <a:solidFill>
                  <a:srgbClr val="F3F5F7"/>
                </a:solidFill>
              </a:rPr>
              <a:t>Decide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DABB80-324E-4925-9783-2C13D608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528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AB6C5"/>
                </a:solidFill>
              </a:defRPr>
            </a:pPr>
            <a:r>
              <a:rPr sz="1275" b="0">
                <a:solidFill>
                  <a:srgbClr val="AAB6C5"/>
                </a:solidFill>
              </a:rPr>
              <a:t>target worker count k*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2CB27A-FC5C-4245-8998-2F398959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43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47DED-67A9-44A0-8929-96997B2F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717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9E4EF"/>
                </a:solidFill>
              </a:defRPr>
            </a:pPr>
            <a:r>
              <a:rPr sz="2175" b="1">
                <a:solidFill>
                  <a:srgbClr val="D9E4EF"/>
                </a:solidFill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340CB6-48B5-48F2-9E53-6FE877FF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09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2D6C4"/>
                </a:solidFill>
              </a:defRPr>
            </a:pPr>
            <a:r>
              <a:rPr sz="2100" b="1">
                <a:solidFill>
                  <a:srgbClr val="42D6C4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2986C9-E917-420C-8718-7C543DD3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336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95A7A6-82CC-4826-A842-C9BBF184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71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3F5F7"/>
                </a:solidFill>
              </a:defRPr>
            </a:pPr>
            <a:r>
              <a:rPr sz="1425" b="1">
                <a:solidFill>
                  <a:srgbClr val="F3F5F7"/>
                </a:solidFill>
              </a:rPr>
              <a:t>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35F6FE-2B6C-4353-8BE4-B88B26B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528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AB6C5"/>
                </a:solidFill>
              </a:defRPr>
            </a:pPr>
            <a:r>
              <a:rPr sz="1275" b="0">
                <a:solidFill>
                  <a:srgbClr val="AAB6C5"/>
                </a:solidFill>
              </a:rPr>
              <a:t>scale pool • drain queue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58E984-8FCC-42CA-9EB8-C2805D49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B5A6B3-3E08-4185-9874-D63CC756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2B95E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2B95E"/>
                </a:solidFill>
              </a:defRPr>
            </a:pPr>
            <a:r>
              <a:rPr sz="1125" b="1">
                <a:solidFill>
                  <a:srgbClr val="F2B95E"/>
                </a:solidFill>
              </a:rPr>
              <a:t>Simulation timing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E1D397-118A-46DC-AC75-7F9EE863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3F5F7"/>
                </a:solidFill>
              </a:defRPr>
            </a:pPr>
            <a:r>
              <a:rPr sz="1425" b="0">
                <a:solidFill>
                  <a:srgbClr val="F3F5F7"/>
                </a:solidFill>
              </a:rPr>
              <a:t>10 s scale-up boot delay     •     4 s control interval     •     capacity bounded by policy settings</a:t>
            </a:r>
          </a:p>
        </p:txBody>
      </p:sp>
    </p:spTree>
    <p:extLst>
      <p:ext uri="{BB962C8B-B14F-4D97-AF65-F5344CB8AC3E}">
        <p14:creationId xmlns:p14="http://schemas.microsoft.com/office/powerpoint/2010/main" val="799157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A8953C-30FA-41FD-A6A2-2642399C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26918-772B-4831-975A-3F6FC5C6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42D6C4"/>
                </a:solidFill>
              </a:defRPr>
            </a:pPr>
            <a:r>
              <a:rPr sz="975" b="1">
                <a:solidFill>
                  <a:srgbClr val="42D6C4"/>
                </a:solidFill>
              </a:rPr>
              <a:t>EVALUATION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3B4B3-AD2B-4011-9D31-1CB885D3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3F5F7"/>
                </a:solidFill>
              </a:defRPr>
            </a:pPr>
            <a:r>
              <a:rPr sz="2550" b="1">
                <a:solidFill>
                  <a:srgbClr val="F3F5F7"/>
                </a:solidFill>
              </a:rPr>
              <a:t>Benchmark compares four policies on three traces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BA3F4-66A3-457A-BE84-8F7F03A7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1B69B-BE3E-444A-8499-9226A45F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AAB6C5"/>
                </a:solidFill>
              </a:defRPr>
            </a:pPr>
            <a:r>
              <a:rPr sz="900" b="1">
                <a:solidFill>
                  <a:srgbClr val="AAB6C5"/>
                </a:solidFill>
              </a:rPr>
              <a:t>RANDOM FOREST–AUGMENTED QUEUEING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312BB-3A8A-4519-8462-9E88C67D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F3D32-1891-4BBA-998D-339BD344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2D6C4"/>
                </a:solidFill>
              </a:defRPr>
            </a:pPr>
            <a:r>
              <a:rPr sz="1125" b="1">
                <a:solidFill>
                  <a:srgbClr val="42D6C4"/>
                </a:solidFill>
              </a:rPr>
              <a:t>Workload traces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2007F-AF76-4F94-93DE-090594D7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3F5F7"/>
                </a:solidFill>
              </a:defRPr>
            </a:pPr>
            <a:r>
              <a:rPr sz="1650" b="1">
                <a:solidFill>
                  <a:srgbClr val="F3F5F7"/>
                </a:solidFill>
              </a:rPr>
              <a:t>A1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97535-CA69-4189-A04E-2EAA7B08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9E4EF"/>
                </a:solidFill>
              </a:defRPr>
            </a:pPr>
            <a:r>
              <a:rPr sz="1425" b="0">
                <a:solidFill>
                  <a:srgbClr val="D9E4EF"/>
                </a:solidFill>
              </a:rPr>
              <a:t>Low variability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0496A-BC8A-4E66-BDAE-4484803C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3F5F7"/>
                </a:solidFill>
              </a:defRPr>
            </a:pPr>
            <a:r>
              <a:rPr sz="1650" b="1">
                <a:solidFill>
                  <a:srgbClr val="F3F5F7"/>
                </a:solidFill>
              </a:rPr>
              <a:t>A2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EC669-0A27-437A-B6A5-0148F2BA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9E4EF"/>
                </a:solidFill>
              </a:defRPr>
            </a:pPr>
            <a:r>
              <a:rPr sz="1425" b="0">
                <a:solidFill>
                  <a:srgbClr val="D9E4EF"/>
                </a:solidFill>
              </a:rPr>
              <a:t>Moderate variability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AAC1D-09C2-48CA-BD53-A015258E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B95E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2B95E"/>
                </a:solidFill>
              </a:defRPr>
            </a:pPr>
            <a:r>
              <a:rPr sz="1650" b="1">
                <a:solidFill>
                  <a:srgbClr val="F2B95E"/>
                </a:solidFill>
              </a:rPr>
              <a:t>A3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B7149-34FE-4142-B3D6-B18EFE27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9E4EF"/>
                </a:solidFill>
              </a:defRPr>
            </a:pPr>
            <a:r>
              <a:rPr sz="1425" b="0">
                <a:solidFill>
                  <a:srgbClr val="D9E4EF"/>
                </a:solidFill>
              </a:rPr>
              <a:t>Bursty workload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8F0A9-4F2B-4A4E-A076-65FA817A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975FD-C731-4BB2-AB76-C8D9F534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2D6C4"/>
                </a:solidFill>
              </a:defRPr>
            </a:pPr>
            <a:r>
              <a:rPr sz="1125" b="1">
                <a:solidFill>
                  <a:srgbClr val="42D6C4"/>
                </a:solidFill>
              </a:rPr>
              <a:t>Policies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D4B1F-F796-4570-82E4-C0C39135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3F5F7"/>
                </a:solidFill>
              </a:defRPr>
            </a:pPr>
            <a:r>
              <a:rPr sz="1425" b="1">
                <a:solidFill>
                  <a:srgbClr val="F3F5F7"/>
                </a:solidFill>
              </a:rPr>
              <a:t>Fixed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A3ABF-486B-473A-AECF-35147EB6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AB6C5"/>
                </a:solidFill>
              </a:defRPr>
            </a:pPr>
            <a:r>
              <a:rPr sz="1275" b="0">
                <a:solidFill>
                  <a:srgbClr val="AAB6C5"/>
                </a:solidFill>
              </a:rPr>
              <a:t>k =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99536-BD28-4A40-A12A-5A549E29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3F5F7"/>
                </a:solidFill>
              </a:defRPr>
            </a:pPr>
            <a:r>
              <a:rPr sz="1425" b="1">
                <a:solidFill>
                  <a:srgbClr val="F3F5F7"/>
                </a:solidFill>
              </a:rPr>
              <a:t>Threshold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97EC6-D55E-400D-8F4A-C34DCCCE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0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AB6C5"/>
                </a:solidFill>
              </a:defRPr>
            </a:pPr>
            <a:r>
              <a:rPr sz="1275" b="0">
                <a:solidFill>
                  <a:srgbClr val="AAB6C5"/>
                </a:solidFill>
              </a:rPr>
              <a:t>queue-length thresholds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C49E1-DAA2-4D1B-85C9-0A6BE3C8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3F5F7"/>
                </a:solidFill>
              </a:defRPr>
            </a:pPr>
            <a:r>
              <a:rPr sz="1425" b="1">
                <a:solidFill>
                  <a:srgbClr val="F3F5F7"/>
                </a:solidFill>
              </a:rPr>
              <a:t>Variability-aware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D6D4C-26A2-435E-A8B9-7B6BB4D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AB6C5"/>
                </a:solidFill>
              </a:defRPr>
            </a:pPr>
            <a:r>
              <a:rPr sz="1275" b="0">
                <a:solidFill>
                  <a:srgbClr val="AAB6C5"/>
                </a:solidFill>
              </a:rPr>
              <a:t>empirical service moments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9DDA8-ACED-49BD-A7F4-4664295B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48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3F5F7"/>
                </a:solidFill>
              </a:defRPr>
            </a:pPr>
            <a:r>
              <a:rPr sz="1425" b="1">
                <a:solidFill>
                  <a:srgbClr val="F3F5F7"/>
                </a:solidFill>
              </a:rPr>
              <a:t>Variability-aware + RF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CD8CF5-ACFF-4F04-8962-3B6CFEAA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480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AB6C5"/>
                </a:solidFill>
              </a:defRPr>
            </a:pPr>
            <a:r>
              <a:rPr sz="1275" b="0">
                <a:solidFill>
                  <a:srgbClr val="AAB6C5"/>
                </a:solidFill>
              </a:rPr>
              <a:t>RF service-time estimates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B1259-DBA5-4710-932A-708573B9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5B69E-C94C-4610-9390-E1E5C789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F2B95E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2B95E"/>
                </a:solidFill>
              </a:defRPr>
            </a:pPr>
            <a:r>
              <a:rPr sz="1050" b="1">
                <a:solidFill>
                  <a:srgbClr val="F2B95E"/>
                </a:solidFill>
              </a:rPr>
              <a:t>COMMON CONFIGURATION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82357-C5B9-497D-8091-D3AA5B42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387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9E4EF"/>
                </a:solidFill>
              </a:defRPr>
            </a:pPr>
            <a:r>
              <a:rPr sz="1350" b="0">
                <a:solidFill>
                  <a:srgbClr val="D9E4EF"/>
                </a:solidFill>
              </a:rPr>
              <a:t>600 arrivals per trace • 2 s SLA target • 10 s boot delay • metrics: P95 latency, VM-hours, SLA violations, overflow</a:t>
            </a:r>
          </a:p>
        </p:txBody>
      </p:sp>
    </p:spTree>
    <p:extLst>
      <p:ext uri="{BB962C8B-B14F-4D97-AF65-F5344CB8AC3E}">
        <p14:creationId xmlns:p14="http://schemas.microsoft.com/office/powerpoint/2010/main" val="1338437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3D974F-3A4A-4E5F-9ED9-85CABF6A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BBA42-6FDC-43AD-A361-7004F01D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42D6C4"/>
                </a:solidFill>
              </a:defRPr>
            </a:pPr>
            <a:r>
              <a:rPr sz="975" b="1">
                <a:solidFill>
                  <a:srgbClr val="42D6C4"/>
                </a:solidFill>
              </a:rPr>
              <a:t>SIMULATION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6C511-7DA2-4E46-85FA-8CFC5418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3F5F7"/>
                </a:solidFill>
              </a:defRPr>
            </a:pPr>
            <a:r>
              <a:rPr sz="2550" b="1">
                <a:solidFill>
                  <a:srgbClr val="F3F5F7"/>
                </a:solidFill>
              </a:rPr>
              <a:t>RF-guided scaling reduces violations vs thresholding, at higher 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A6F43-4D3B-4E37-9E16-91DAED9E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81583-69D8-4F4D-8F89-20C2767B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AAB6C5"/>
                </a:solidFill>
              </a:defRPr>
            </a:pPr>
            <a:r>
              <a:rPr sz="900" b="1">
                <a:solidFill>
                  <a:srgbClr val="AAB6C5"/>
                </a:solidFill>
              </a:rPr>
              <a:t>RANDOM FOREST–AUGMENTED QUEUEING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03D22-BDFA-4C4F-8393-34C44572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7E6B4-F06F-4012-A08E-EBD26AFE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AB6C5"/>
                </a:solidFill>
              </a:defRPr>
            </a:pPr>
            <a:r>
              <a:rPr sz="1200" b="0">
                <a:solidFill>
                  <a:srgbClr val="AAB6C5"/>
                </a:solidFill>
              </a:rPr>
              <a:t>Mean across A1–A3; 600 arrivals per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A0664-3BCA-4AFD-BC2F-02FC568A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C3C53-E04A-406B-ACD8-33F7BF6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81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P95 LATENCY (s)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309AF-E805-42F8-BE50-CC753A4B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8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VM-HOURS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EDBF4-1380-4413-B460-A55F7461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812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SLA VIOLATIONS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2A189-E33B-4811-AF5B-1187BE40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BD7DC-847A-4F3E-8FC5-6BE1611E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3F5F7"/>
                </a:solidFill>
              </a:defRPr>
            </a:pPr>
            <a:r>
              <a:rPr sz="1350" b="1">
                <a:solidFill>
                  <a:srgbClr val="F3F5F7"/>
                </a:solidFill>
              </a:rPr>
              <a:t>Fixed k=6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9FCBC-8C1E-4030-A7A1-42340B07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78A9FF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8A9FF"/>
                </a:solidFill>
              </a:defRPr>
            </a:pPr>
            <a:r>
              <a:rPr sz="1500" b="1">
                <a:solidFill>
                  <a:srgbClr val="78A9FF"/>
                </a:solidFill>
              </a:rPr>
              <a:t>3.59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9A91F-A0FD-4F14-8248-099FFDDD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3F5F7"/>
                </a:solidFill>
              </a:defRPr>
            </a:pPr>
            <a:r>
              <a:rPr sz="1500" b="1">
                <a:solidFill>
                  <a:srgbClr val="F3F5F7"/>
                </a:solidFill>
              </a:rPr>
              <a:t>0.256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7D8FF-3843-4799-8A68-5CD0432E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3F5F7"/>
                </a:solidFill>
              </a:defRPr>
            </a:pPr>
            <a:r>
              <a:rPr sz="1500" b="1">
                <a:solidFill>
                  <a:srgbClr val="F3F5F7"/>
                </a:solidFill>
              </a:rPr>
              <a:t>21.6%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FDC63-F201-4C05-956F-1191E804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5398B-ECEB-4826-8FFC-0F34326C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3F5F7"/>
                </a:solidFill>
              </a:defRPr>
            </a:pPr>
            <a:r>
              <a:rPr sz="1350" b="1">
                <a:solidFill>
                  <a:srgbClr val="F3F5F7"/>
                </a:solidFill>
              </a:rPr>
              <a:t>Threshold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E7892-B75B-49A5-A381-D4B56D04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7C76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27C76"/>
                </a:solidFill>
              </a:defRPr>
            </a:pPr>
            <a:r>
              <a:rPr sz="1500" b="1">
                <a:solidFill>
                  <a:srgbClr val="F27C76"/>
                </a:solidFill>
              </a:rPr>
              <a:t>11.30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CC635-5E90-4106-AF64-574ED718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3F5F7"/>
                </a:solidFill>
              </a:defRPr>
            </a:pPr>
            <a:r>
              <a:rPr sz="1500" b="1">
                <a:solidFill>
                  <a:srgbClr val="F3F5F7"/>
                </a:solidFill>
              </a:rPr>
              <a:t>0.204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6ED4D-74CB-4844-8830-B35AE29B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9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3F5F7"/>
                </a:solidFill>
              </a:defRPr>
            </a:pPr>
            <a:r>
              <a:rPr sz="1500" b="1">
                <a:solidFill>
                  <a:srgbClr val="F3F5F7"/>
                </a:solidFill>
              </a:rPr>
              <a:t>66.7%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60BBD-7D01-4F88-94C8-2314D208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09E388-A16B-4BC5-8125-BF7073CB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3F5F7"/>
                </a:solidFill>
              </a:defRPr>
            </a:pPr>
            <a:r>
              <a:rPr sz="1350" b="1">
                <a:solidFill>
                  <a:srgbClr val="F3F5F7"/>
                </a:solidFill>
              </a:rPr>
              <a:t>Variability-aware (empirical)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64234-E6C9-46EB-9663-A9F6138F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19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42D6C4"/>
                </a:solidFill>
              </a:defRPr>
            </a:pPr>
            <a:r>
              <a:rPr sz="1500" b="1">
                <a:solidFill>
                  <a:srgbClr val="42D6C4"/>
                </a:solidFill>
              </a:rPr>
              <a:t>4.77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1F98F3-4397-41A5-B305-E05270C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3F5F7"/>
                </a:solidFill>
              </a:defRPr>
            </a:pPr>
            <a:r>
              <a:rPr sz="1500" b="1">
                <a:solidFill>
                  <a:srgbClr val="F3F5F7"/>
                </a:solidFill>
              </a:rPr>
              <a:t>0.273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958D5-CD71-42ED-A13B-B1B885E2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19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3F5F7"/>
                </a:solidFill>
              </a:defRPr>
            </a:pPr>
            <a:r>
              <a:rPr sz="1500" b="1">
                <a:solidFill>
                  <a:srgbClr val="F3F5F7"/>
                </a:solidFill>
              </a:rPr>
              <a:t>31.2%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190CA0-2424-4392-B5CB-33338005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298B5-65BD-4BFA-A0C5-DA89FA64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3F5F7"/>
                </a:solidFill>
              </a:defRPr>
            </a:pPr>
            <a:r>
              <a:rPr sz="1350" b="1">
                <a:solidFill>
                  <a:srgbClr val="F3F5F7"/>
                </a:solidFill>
              </a:rPr>
              <a:t>Variability-aware (RF)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1AB8E7-D1CC-4D97-844A-3C53EE6C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B95E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2B95E"/>
                </a:solidFill>
              </a:defRPr>
            </a:pPr>
            <a:r>
              <a:rPr sz="1500" b="1">
                <a:solidFill>
                  <a:srgbClr val="F2B95E"/>
                </a:solidFill>
              </a:rPr>
              <a:t>3.56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D1F847-8472-4713-952B-68F0562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29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3F5F7"/>
                </a:solidFill>
              </a:defRPr>
            </a:pPr>
            <a:r>
              <a:rPr sz="1500" b="1">
                <a:solidFill>
                  <a:srgbClr val="F3F5F7"/>
                </a:solidFill>
              </a:rPr>
              <a:t>0.342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6560F-D6E5-4EE3-9E7C-B53CAC81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29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3F5F7"/>
                </a:solidFill>
              </a:defRPr>
            </a:pPr>
            <a:r>
              <a:rPr sz="1500" b="1">
                <a:solidFill>
                  <a:srgbClr val="F3F5F7"/>
                </a:solidFill>
              </a:rPr>
              <a:t>15.7%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65A558-D145-4D3D-8B12-A4A18BE3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20BE5D-304A-4A41-97E3-C05238FF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2D6C4"/>
                </a:solidFill>
              </a:defRPr>
            </a:pPr>
            <a:r>
              <a:rPr sz="1125" b="1">
                <a:solidFill>
                  <a:srgbClr val="42D6C4"/>
                </a:solidFill>
              </a:rPr>
              <a:t>Against threshold policy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762CD8-0017-4159-9951-6D34EEF5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D9E4EF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9E4EF"/>
                </a:solidFill>
              </a:defRPr>
            </a:pPr>
            <a:r>
              <a:rPr sz="1500" b="1">
                <a:solidFill>
                  <a:srgbClr val="D9E4EF"/>
                </a:solidFill>
              </a:rPr>
              <a:t>RF policy: 68% lower mean P95 latency and 51 percentage-point fewer SLA violations; VM-hours are 68% higher.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34BC6A-295D-4024-BC7E-40EB326A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AAB6C5"/>
                </a:solidFill>
              </a:defRPr>
            </a:pPr>
            <a:r>
              <a:rPr sz="1050" b="0">
                <a:solidFill>
                  <a:srgbClr val="AAB6C5"/>
                </a:solidFill>
              </a:rPr>
              <a:t>No requests were rejected in these runs. Results are simulation outputs, not production measurements.</a:t>
            </a:r>
          </a:p>
        </p:txBody>
      </p:sp>
    </p:spTree>
    <p:extLst>
      <p:ext uri="{BB962C8B-B14F-4D97-AF65-F5344CB8AC3E}">
        <p14:creationId xmlns:p14="http://schemas.microsoft.com/office/powerpoint/2010/main" val="861895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CC23E-30E7-4294-9EC3-B04B9C18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A10FA-4374-4423-939F-855CAD94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42D6C4"/>
                </a:solidFill>
              </a:defRPr>
            </a:pPr>
            <a:r>
              <a:rPr sz="975" b="1">
                <a:solidFill>
                  <a:srgbClr val="42D6C4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12500-3060-4EE2-9323-38199D04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3F5F7"/>
                </a:solidFill>
              </a:defRPr>
            </a:pPr>
            <a:r>
              <a:rPr sz="2550" b="1">
                <a:solidFill>
                  <a:srgbClr val="F3F5F7"/>
                </a:solidFill>
              </a:rPr>
              <a:t>What the simulation supports—and what to validate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1B017-48B2-4CF7-B99A-CE5D379C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BEA17-D21A-40C8-AEF9-AB257228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AAB6C5"/>
                </a:solidFill>
              </a:defRPr>
            </a:pPr>
            <a:r>
              <a:rPr sz="900" b="1">
                <a:solidFill>
                  <a:srgbClr val="AAB6C5"/>
                </a:solidFill>
              </a:rPr>
              <a:t>RANDOM FOREST–AUGMENTED QUEUEING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3010C-BFA8-4B26-81B5-8E8A9180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AB6C5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AAB6C5"/>
                </a:solidFill>
              </a:defRPr>
            </a:pPr>
            <a:r>
              <a:rPr sz="975" b="1">
                <a:solidFill>
                  <a:srgbClr val="AAB6C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68BCF-117D-4455-9E00-FD37752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2D6C4"/>
                </a:solidFill>
              </a:defRPr>
            </a:pPr>
            <a:r>
              <a:rPr sz="1125" b="1">
                <a:solidFill>
                  <a:srgbClr val="42D6C4"/>
                </a:solidFill>
              </a:rPr>
              <a:t>SUPPORTED BY CURRENT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DBDA2-2AC0-4743-8231-1BBAF3B7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1E8C9-FEC1-45DC-8127-0E711FF8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3F5F7"/>
                </a:solidFill>
              </a:defRPr>
            </a:pPr>
            <a:r>
              <a:rPr sz="1425" b="0">
                <a:solidFill>
                  <a:srgbClr val="F3F5F7"/>
                </a:solidFill>
              </a:rPr>
              <a:t>Adding variability and service-time estimates can improve delay and SLA outcomes against queue-length thresholding in these traces.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2D5EC-1408-4301-A8E8-BDBC97A2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F1293-00E0-4A76-ABFE-B37680E5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3F5F7"/>
                </a:solidFill>
              </a:defRPr>
            </a:pPr>
            <a:r>
              <a:rPr sz="1425" b="0">
                <a:solidFill>
                  <a:srgbClr val="F3F5F7"/>
                </a:solidFill>
              </a:rPr>
              <a:t>The improvement carries a capacity cost; efficiency depends on the workload and the SLA trade-off.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7FD6F-D644-4A7B-BD94-990E89C2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190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B4486-1D06-4E54-BFC1-22B3B217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2B95E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2B95E"/>
                </a:solidFill>
              </a:defRPr>
            </a:pPr>
            <a:r>
              <a:rPr sz="1125" b="1">
                <a:solidFill>
                  <a:srgbClr val="F2B95E"/>
                </a:solidFill>
              </a:rPr>
              <a:t>NEXT VALIDATION STEPS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EF5D3-A9CE-4AD7-8A18-7AFF7B39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343E4-32D2-4A9D-AACF-7D793793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1455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3F5F7"/>
                </a:solidFill>
              </a:defRPr>
            </a:pPr>
            <a:r>
              <a:rPr sz="1425" b="0">
                <a:solidFill>
                  <a:srgbClr val="F3F5F7"/>
                </a:solidFill>
              </a:rPr>
              <a:t>Train and test on measured cloud task durations; use time-separated holdouts.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0CFC6-1EA7-4385-AD34-D60B57F7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8D46A-FAE1-4698-A9F7-BBF385C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3F5F7"/>
                </a:solidFill>
              </a:defRPr>
            </a:pPr>
            <a:r>
              <a:rPr sz="1425" b="0">
                <a:solidFill>
                  <a:srgbClr val="F3F5F7"/>
                </a:solidFill>
              </a:rPr>
              <a:t>Report confidence intervals across repeated random seeds and trace families.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150D3-2382-4701-87D3-B6B72396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275B8-C975-41FF-810A-5CBA345F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3F5F7"/>
                </a:solidFill>
              </a:defRPr>
            </a:pPr>
            <a:r>
              <a:rPr sz="1425" b="0">
                <a:solidFill>
                  <a:srgbClr val="F3F5F7"/>
                </a:solidFill>
              </a:rPr>
              <a:t>Test model error, burst onset, cold starts, and cost/SLA operating points.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D3660-DFF9-406C-A715-2E03C4C9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23D3C-B3DB-4CAA-930B-275E1CCF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97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42D6C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2D6C4"/>
                </a:solidFill>
              </a:defRPr>
            </a:pPr>
            <a:r>
              <a:rPr sz="1275" b="1">
                <a:solidFill>
                  <a:srgbClr val="42D6C4"/>
                </a:solidFill>
              </a:rPr>
              <a:t>Takeaway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EDB9B5-F76D-4BB6-89D5-2A675CC8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3F5F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3F5F7"/>
                </a:solidFill>
              </a:defRPr>
            </a:pPr>
            <a:r>
              <a:rPr sz="1575" b="1">
                <a:solidFill>
                  <a:srgbClr val="F3F5F7"/>
                </a:solidFill>
              </a:rPr>
              <a:t>Predictive queueing is promising in simulation; production value remains to be measured.</a:t>
            </a:r>
          </a:p>
        </p:txBody>
      </p:sp>
    </p:spTree>
    <p:extLst>
      <p:ext uri="{BB962C8B-B14F-4D97-AF65-F5344CB8AC3E}">
        <p14:creationId xmlns:p14="http://schemas.microsoft.com/office/powerpoint/2010/main" val="764205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2026-10-22T07:46:09.3940000Z</dcterms:created>
  <dcterms:modified xsi:type="dcterms:W3CDTF">2026-10-22T07:46:09.3940000Z</dcterms:modified>
</coreProperties>
</file>