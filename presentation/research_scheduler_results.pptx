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7781d20758450e" /><Relationship Type="http://schemas.openxmlformats.org/officeDocument/2006/relationships/extended-properties" Target="/docProps/app.xml" Id="R10bc48140a094d5e" /><Relationship Type="http://schemas.openxmlformats.org/officeDocument/2006/relationships/officeDocument" Target="/ppt/presentation.xml" Id="R63b92df12c1b4c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c83ab0678742c0"/>
  </p:sldMasterIdLst>
  <p:notesMasterIdLst>
    <p:notesMasterId xmlns:r="http://schemas.openxmlformats.org/officeDocument/2006/relationships" r:id="Rf1cfacac1a8741b7"/>
  </p:notesMasterIdLst>
  <p:sldIdLst>
    <p:sldId xmlns:r="http://schemas.openxmlformats.org/officeDocument/2006/relationships" id="256" r:id="R03ffaa60501a4793"/>
    <p:sldId xmlns:r="http://schemas.openxmlformats.org/officeDocument/2006/relationships" id="257" r:id="Re9a28fe8ac1c4680"/>
    <p:sldId xmlns:r="http://schemas.openxmlformats.org/officeDocument/2006/relationships" id="258" r:id="R3f473fd60133497a"/>
    <p:sldId xmlns:r="http://schemas.openxmlformats.org/officeDocument/2006/relationships" id="259" r:id="R0a2d62ce6c12401b"/>
    <p:sldId xmlns:r="http://schemas.openxmlformats.org/officeDocument/2006/relationships" id="260" r:id="R7a272393d4064017"/>
    <p:sldId xmlns:r="http://schemas.openxmlformats.org/officeDocument/2006/relationships" id="261" r:id="R53ce6a91305c45f6"/>
    <p:sldId xmlns:r="http://schemas.openxmlformats.org/officeDocument/2006/relationships" id="262" r:id="R375d4f164adf4acc"/>
    <p:sldId xmlns:r="http://schemas.openxmlformats.org/officeDocument/2006/relationships" id="263" r:id="Rfb90080875ea43a0"/>
    <p:sldId xmlns:r="http://schemas.openxmlformats.org/officeDocument/2006/relationships" id="264" r:id="R7c44dc82d6f740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15bf201950422b" /><Relationship Type="http://schemas.openxmlformats.org/officeDocument/2006/relationships/slideMaster" Target="/ppt/slideMasters/slideMaster1.xml" Id="R76c83ab0678742c0" /><Relationship Type="http://schemas.openxmlformats.org/officeDocument/2006/relationships/notesMaster" Target="/ppt/notesMasters/notesMaster1.xml" Id="Rf1cfacac1a8741b7" /><Relationship Type="http://schemas.openxmlformats.org/officeDocument/2006/relationships/presProps" Target="/ppt/presProps.xml" Id="Rd11fc2a3676b49e3" /><Relationship Type="http://schemas.openxmlformats.org/officeDocument/2006/relationships/tableStyles" Target="/ppt/tableStyles.xml" Id="R33d593dcbce6461b" /><Relationship Type="http://schemas.openxmlformats.org/officeDocument/2006/relationships/slide" Target="/ppt/slides/slide1.xml" Id="R03ffaa60501a4793" /><Relationship Type="http://schemas.openxmlformats.org/officeDocument/2006/relationships/slide" Target="/ppt/slides/slide2.xml" Id="Re9a28fe8ac1c4680" /><Relationship Type="http://schemas.openxmlformats.org/officeDocument/2006/relationships/slide" Target="/ppt/slides/slide3.xml" Id="R3f473fd60133497a" /><Relationship Type="http://schemas.openxmlformats.org/officeDocument/2006/relationships/slide" Target="/ppt/slides/slide4.xml" Id="R0a2d62ce6c12401b" /><Relationship Type="http://schemas.openxmlformats.org/officeDocument/2006/relationships/slide" Target="/ppt/slides/slide5.xml" Id="R7a272393d4064017" /><Relationship Type="http://schemas.openxmlformats.org/officeDocument/2006/relationships/slide" Target="/ppt/slides/slide6.xml" Id="R53ce6a91305c45f6" /><Relationship Type="http://schemas.openxmlformats.org/officeDocument/2006/relationships/slide" Target="/ppt/slides/slide7.xml" Id="R375d4f164adf4acc" /><Relationship Type="http://schemas.openxmlformats.org/officeDocument/2006/relationships/slide" Target="/ppt/slides/slide8.xml" Id="Rfb90080875ea43a0" /><Relationship Type="http://schemas.openxmlformats.org/officeDocument/2006/relationships/slide" Target="/ppt/slides/slide9.xml" Id="R7c44dc82d6f740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da902d20c541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a3e7e462ef4ca6" /><Relationship Type="http://schemas.openxmlformats.org/officeDocument/2006/relationships/notesMaster" Target="/ppt/notesMasters/notesMaster1.xml" Id="R51147ab095e54e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9f0101728342cc" /><Relationship Type="http://schemas.openxmlformats.org/officeDocument/2006/relationships/notesMaster" Target="/ppt/notesMasters/notesMaster1.xml" Id="R7078668fd77346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e1ec3ebd894cac" /><Relationship Type="http://schemas.openxmlformats.org/officeDocument/2006/relationships/notesMaster" Target="/ppt/notesMasters/notesMaster1.xml" Id="R105a7e453e7948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64f44d957045fb" /><Relationship Type="http://schemas.openxmlformats.org/officeDocument/2006/relationships/notesMaster" Target="/ppt/notesMasters/notesMaster1.xml" Id="Rc808f1e09a704d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a03557d2424c13" /><Relationship Type="http://schemas.openxmlformats.org/officeDocument/2006/relationships/notesMaster" Target="/ppt/notesMasters/notesMaster1.xml" Id="R6554525ee80946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9ae67d8e1a4226" /><Relationship Type="http://schemas.openxmlformats.org/officeDocument/2006/relationships/notesMaster" Target="/ppt/notesMasters/notesMaster1.xml" Id="R5753f21f08f24e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60f017d21a4a26" /><Relationship Type="http://schemas.openxmlformats.org/officeDocument/2006/relationships/notesMaster" Target="/ppt/notesMasters/notesMaster1.xml" Id="Rbf1aa52a650646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001dcdb2734cca" /><Relationship Type="http://schemas.openxmlformats.org/officeDocument/2006/relationships/notesMaster" Target="/ppt/notesMasters/notesMaster1.xml" Id="R852fa63f74154f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d7981744de4942" /><Relationship Type="http://schemas.openxmlformats.org/officeDocument/2006/relationships/notesMaster" Target="/ppt/notesMasters/notesMaster1.xml" Id="Re8fee098252047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presentation describes an implementation and the full-grid evaluation. Results are synthetic simulation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the current implementation in simulation/runner.py, simulation/scheduling.py, ml/rf_service_time.py, system/processing_queue.py, and workload/generator.py.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split residual quantile is not claimed as formal conformal coverage. Related background: Romano, Patterson, and Candes (2019), Conformalized Quantile Regression, https://papers.nips.cc/paper/2019/hash/5103c3584b063c431bd1268e9b5e76fb-Abstract.html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research_results/full_grid/benchmark_results.csv and benchmark_overall_summary.json. Each policy has 144 paired simulations. Results are from synthetic traces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source data are in research_results/full_grid/benchmark_results.csv. The workflow aligns the synthetic runtime profile across model and task traces, but this does not establish real-world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Breiman, Random Forests, Machine Learning 45 (2001), https://doi.org/10.1023/A:1010933404324; Romano, Patterson, and Candes, Conformalized Quantile Regression, NeurIPS 2019, https://papers.nips.cc/paper/2019/hash/5103c3584b063c431bd1268e9b5e76fb-Abstract.html; Liu and Layland, Scheduling Algorithms for Multiprogramming in a Hard-Real-Time Environment, JACM 20(1) (1973), https://doi.org/10.1145/321738.321743.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references: https://doi.org/10.1023/A:1010933404324 ; https://papers.nips.cc/paper/2019/hash/5103c3584b063c431bd1268e9b5e76fb-Abstract.html ; https://doi.org/10.1145/321738.321743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9401d2a5643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10ad60e2842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b616fc22445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3a270bb3484a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6ee89881740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b02543d9a4d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836D8F-8061-47F1-847C-74636C9F68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F22AD6-F59A-48E0-8FAD-F98CCEF607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A215AB-E2DB-472C-8E63-7D0E422EE3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8ADDB2-91EB-439D-B4D2-8DB809E7CE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3C064ED-1EB7-4326-9D87-3BAF469575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A85E90-4D52-43F4-827F-6E1F6F538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D9585E-A24F-4DEB-9789-F77702CCFF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C2589D-3081-4A63-A83F-A08929ABCD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384814-D111-4136-B186-E3C0C8F941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A2D931-4045-4336-B781-F32267B8EE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715013e50e4bf6" /><Relationship Type="http://schemas.openxmlformats.org/officeDocument/2006/relationships/slideLayout" Target="/ppt/slideLayouts/slideLayout1.xml" Id="R836e4e942adf48ea" /><Relationship Type="http://schemas.openxmlformats.org/officeDocument/2006/relationships/slideLayout" Target="/ppt/slideLayouts/slideLayout2.xml" Id="R5eeabfec555a4e4c" /><Relationship Type="http://schemas.openxmlformats.org/officeDocument/2006/relationships/slideLayout" Target="/ppt/slideLayouts/slideLayout3.xml" Id="Rf7a1009fa1f44e73" /><Relationship Type="http://schemas.openxmlformats.org/officeDocument/2006/relationships/slideLayout" Target="/ppt/slideLayouts/slideLayout4.xml" Id="Rd4d32364d7334485" /><Relationship Type="http://schemas.openxmlformats.org/officeDocument/2006/relationships/slideLayout" Target="/ppt/slideLayouts/slideLayout5.xml" Id="R652357bde0344504" /><Relationship Type="http://schemas.openxmlformats.org/officeDocument/2006/relationships/slideLayout" Target="/ppt/slideLayouts/slideLayout6.xml" Id="R943cb2fb215c4a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6e4e942adf48ea"/>
    <p:sldLayoutId xmlns:r="http://schemas.openxmlformats.org/officeDocument/2006/relationships" id="2147483650" r:id="R5eeabfec555a4e4c"/>
    <p:sldLayoutId xmlns:r="http://schemas.openxmlformats.org/officeDocument/2006/relationships" id="2147483651" r:id="Rf7a1009fa1f44e73"/>
    <p:sldLayoutId xmlns:r="http://schemas.openxmlformats.org/officeDocument/2006/relationships" id="2147483652" r:id="Rd4d32364d7334485"/>
    <p:sldLayoutId xmlns:r="http://schemas.openxmlformats.org/officeDocument/2006/relationships" id="2147483653" r:id="R652357bde0344504"/>
    <p:sldLayoutId xmlns:r="http://schemas.openxmlformats.org/officeDocument/2006/relationships" id="2147483654" r:id="R943cb2fb215c4a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a2f2516feb4cf7" /><Relationship Type="http://schemas.openxmlformats.org/officeDocument/2006/relationships/notesSlide" Target="/ppt/notesSlides/notesSlide1.xml" Id="R216ce1dfe73f44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12c43c7944c9b" /><Relationship Type="http://schemas.openxmlformats.org/officeDocument/2006/relationships/notesSlide" Target="/ppt/notesSlides/notesSlide2.xml" Id="R10e533ae14974e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34ce4e93ef442a" /><Relationship Type="http://schemas.openxmlformats.org/officeDocument/2006/relationships/notesSlide" Target="/ppt/notesSlides/notesSlide3.xml" Id="R57d1904ea5c744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3c2ed0c6e946d0" /><Relationship Type="http://schemas.openxmlformats.org/officeDocument/2006/relationships/notesSlide" Target="/ppt/notesSlides/notesSlide4.xml" Id="Rd290cca949e340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d6466e93b54b3f" /><Relationship Type="http://schemas.openxmlformats.org/officeDocument/2006/relationships/notesSlide" Target="/ppt/notesSlides/notesSlide5.xml" Id="R2caa8fc695b449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c2e838387d4370" /><Relationship Type="http://schemas.openxmlformats.org/officeDocument/2006/relationships/image" Target="/ppt/media/image.png" Id="R3d352c5ce61d4548" /><Relationship Type="http://schemas.openxmlformats.org/officeDocument/2006/relationships/notesSlide" Target="/ppt/notesSlides/notesSlide6.xml" Id="R9859f92f041c43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ae28b75a44209" /><Relationship Type="http://schemas.openxmlformats.org/officeDocument/2006/relationships/notesSlide" Target="/ppt/notesSlides/notesSlide7.xml" Id="R908c1bfc665940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95c58705bc4b75" /><Relationship Type="http://schemas.openxmlformats.org/officeDocument/2006/relationships/notesSlide" Target="/ppt/notesSlides/notesSlide8.xml" Id="Rba835305d6664b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082cc60b840b9" /><Relationship Type="http://schemas.openxmlformats.org/officeDocument/2006/relationships/notesSlide" Target="/ppt/notesSlides/notesSlide9.xml" Id="Rb815a2e44a5445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5A360-E50A-4FCC-9673-B0EA6077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96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50" b="1">
                <a:solidFill>
                  <a:srgbClr val="FFFFFF"/>
                </a:solidFill>
              </a:defRPr>
            </a:defPPr>
            <a:lvl1pPr>
              <a:defRPr sz="4050" b="1">
                <a:solidFill>
                  <a:srgbClr val="FFFFFF"/>
                </a:solidFill>
              </a:defRPr>
            </a:lvl1pPr>
            <a:lvl2pPr>
              <a:defRPr sz="4050" b="1">
                <a:solidFill>
                  <a:srgbClr val="FFFFFF"/>
                </a:solidFill>
              </a:defRPr>
            </a:lvl2pPr>
            <a:lvl3pPr>
              <a:defRPr sz="4050" b="1">
                <a:solidFill>
                  <a:srgbClr val="FFFFFF"/>
                </a:solidFill>
              </a:defRPr>
            </a:lvl3pPr>
            <a:lvl4pPr>
              <a:defRPr sz="4050" b="1">
                <a:solidFill>
                  <a:srgbClr val="FFFFFF"/>
                </a:solidFill>
              </a:defRPr>
            </a:lvl4pPr>
            <a:lvl5pPr>
              <a:defRPr sz="4050" b="1">
                <a:solidFill>
                  <a:srgbClr val="FFFFFF"/>
                </a:solidFill>
              </a:defRPr>
            </a:lvl5pPr>
            <a:lvl6pPr>
              <a:defRPr sz="4050" b="1">
                <a:solidFill>
                  <a:srgbClr val="FFFFFF"/>
                </a:solidFill>
              </a:defRPr>
            </a:lvl6pPr>
            <a:lvl7pPr>
              <a:defRPr sz="4050" b="1">
                <a:solidFill>
                  <a:srgbClr val="FFFFFF"/>
                </a:solidFill>
              </a:defRPr>
            </a:lvl7pPr>
            <a:lvl8pPr>
              <a:defRPr sz="4050" b="1">
                <a:solidFill>
                  <a:srgbClr val="FFFFFF"/>
                </a:solidFill>
              </a:defRPr>
            </a:lvl8pPr>
            <a:lvl9pPr>
              <a:defRPr sz="4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Cloud task scheduling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066EA-5490-4E0A-84FB-8D4BB3F7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DCE8EF"/>
                </a:solidFill>
              </a:defRPr>
            </a:defPPr>
            <a:lvl1pPr>
              <a:defRPr sz="2550" b="0">
                <a:solidFill>
                  <a:srgbClr val="DCE8EF"/>
                </a:solidFill>
              </a:defRPr>
            </a:lvl1pPr>
            <a:lvl2pPr>
              <a:defRPr sz="2550" b="0">
                <a:solidFill>
                  <a:srgbClr val="DCE8EF"/>
                </a:solidFill>
              </a:defRPr>
            </a:lvl2pPr>
            <a:lvl3pPr>
              <a:defRPr sz="2550" b="0">
                <a:solidFill>
                  <a:srgbClr val="DCE8EF"/>
                </a:solidFill>
              </a:defRPr>
            </a:lvl3pPr>
            <a:lvl4pPr>
              <a:defRPr sz="2550" b="0">
                <a:solidFill>
                  <a:srgbClr val="DCE8EF"/>
                </a:solidFill>
              </a:defRPr>
            </a:lvl4pPr>
            <a:lvl5pPr>
              <a:defRPr sz="2550" b="0">
                <a:solidFill>
                  <a:srgbClr val="DCE8EF"/>
                </a:solidFill>
              </a:defRPr>
            </a:lvl5pPr>
            <a:lvl6pPr>
              <a:defRPr sz="2550" b="0">
                <a:solidFill>
                  <a:srgbClr val="DCE8EF"/>
                </a:solidFill>
              </a:defRPr>
            </a:lvl6pPr>
            <a:lvl7pPr>
              <a:defRPr sz="2550" b="0">
                <a:solidFill>
                  <a:srgbClr val="DCE8EF"/>
                </a:solidFill>
              </a:defRPr>
            </a:lvl7pPr>
            <a:lvl8pPr>
              <a:defRPr sz="2550" b="0">
                <a:solidFill>
                  <a:srgbClr val="DCE8EF"/>
                </a:solidFill>
              </a:defRPr>
            </a:lvl8pPr>
            <a:lvl9pPr>
              <a:defRPr sz="2550" b="0">
                <a:solidFill>
                  <a:srgbClr val="DCE8EF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DCE8EF"/>
                </a:solidFill>
              </a:defRPr>
            </a:pPr>
            <a:r>
              <a:rPr sz="2550" b="0">
                <a:solidFill>
                  <a:srgbClr val="DCE8EF"/>
                </a:solidFill>
              </a:rPr>
              <a:t>Random Forest runtime estimates, residual uncertainty, and deadlines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EF336-03CE-4D21-A1F2-46B1D569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9B44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44C77-8996-45E4-95EA-6EB6F40D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Research implementation 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8E1C0-7785-4DAA-BD78-D8AAA464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DCE8EF"/>
                </a:solidFill>
              </a:defRPr>
            </a:defPPr>
            <a:lvl1pPr>
              <a:defRPr sz="1650" b="0">
                <a:solidFill>
                  <a:srgbClr val="DCE8EF"/>
                </a:solidFill>
              </a:defRPr>
            </a:lvl1pPr>
            <a:lvl2pPr>
              <a:defRPr sz="1650" b="0">
                <a:solidFill>
                  <a:srgbClr val="DCE8EF"/>
                </a:solidFill>
              </a:defRPr>
            </a:lvl2pPr>
            <a:lvl3pPr>
              <a:defRPr sz="1650" b="0">
                <a:solidFill>
                  <a:srgbClr val="DCE8EF"/>
                </a:solidFill>
              </a:defRPr>
            </a:lvl3pPr>
            <a:lvl4pPr>
              <a:defRPr sz="1650" b="0">
                <a:solidFill>
                  <a:srgbClr val="DCE8EF"/>
                </a:solidFill>
              </a:defRPr>
            </a:lvl4pPr>
            <a:lvl5pPr>
              <a:defRPr sz="1650" b="0">
                <a:solidFill>
                  <a:srgbClr val="DCE8EF"/>
                </a:solidFill>
              </a:defRPr>
            </a:lvl5pPr>
            <a:lvl6pPr>
              <a:defRPr sz="1650" b="0">
                <a:solidFill>
                  <a:srgbClr val="DCE8EF"/>
                </a:solidFill>
              </a:defRPr>
            </a:lvl6pPr>
            <a:lvl7pPr>
              <a:defRPr sz="1650" b="0">
                <a:solidFill>
                  <a:srgbClr val="DCE8EF"/>
                </a:solidFill>
              </a:defRPr>
            </a:lvl7pPr>
            <a:lvl8pPr>
              <a:defRPr sz="1650" b="0">
                <a:solidFill>
                  <a:srgbClr val="DCE8EF"/>
                </a:solidFill>
              </a:defRPr>
            </a:lvl8pPr>
            <a:lvl9pPr>
              <a:defRPr sz="1650" b="0">
                <a:solidFill>
                  <a:srgbClr val="DCE8EF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CE8EF"/>
                </a:solidFill>
              </a:defRPr>
            </a:pPr>
            <a:r>
              <a:rPr sz="1650" b="0">
                <a:solidFill>
                  <a:srgbClr val="DCE8EF"/>
                </a:solidFill>
              </a:rPr>
              <a:t>Synthetic simulation • 1,008 paired scheduler runs • no improvement claim</a:t>
            </a:r>
          </a:p>
        </p:txBody>
      </p:sp>
    </p:spTree>
    <p:extLst>
      <p:ext uri="{BB962C8B-B14F-4D97-AF65-F5344CB8AC3E}">
        <p14:creationId xmlns:p14="http://schemas.microsoft.com/office/powerpoint/2010/main" val="11754081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1687D-0927-47F7-BCB6-7EA66087B52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029700" y="28289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6A8A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59F64-9031-4618-B97C-F54B450CA6F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838950" y="28289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6A8A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0F6D2-5120-49FE-8809-B3C1FBAA03D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648200" y="28289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6A8A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18B02-DAE0-4CB1-8BB6-0B712AF81CD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457450" y="28289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6A8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ABCFAE-EE6C-4792-848F-228A666C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324F"/>
                </a:solidFill>
              </a:defRPr>
            </a:defPPr>
            <a:lvl1pPr>
              <a:defRPr sz="3300" b="1">
                <a:solidFill>
                  <a:srgbClr val="16324F"/>
                </a:solidFill>
              </a:defRPr>
            </a:lvl1pPr>
            <a:lvl2pPr>
              <a:defRPr sz="3300" b="1">
                <a:solidFill>
                  <a:srgbClr val="16324F"/>
                </a:solidFill>
              </a:defRPr>
            </a:lvl2pPr>
            <a:lvl3pPr>
              <a:defRPr sz="3300" b="1">
                <a:solidFill>
                  <a:srgbClr val="16324F"/>
                </a:solidFill>
              </a:defRPr>
            </a:lvl3pPr>
            <a:lvl4pPr>
              <a:defRPr sz="3300" b="1">
                <a:solidFill>
                  <a:srgbClr val="16324F"/>
                </a:solidFill>
              </a:defRPr>
            </a:lvl4pPr>
            <a:lvl5pPr>
              <a:defRPr sz="3300" b="1">
                <a:solidFill>
                  <a:srgbClr val="16324F"/>
                </a:solidFill>
              </a:defRPr>
            </a:lvl5pPr>
            <a:lvl6pPr>
              <a:defRPr sz="3300" b="1">
                <a:solidFill>
                  <a:srgbClr val="16324F"/>
                </a:solidFill>
              </a:defRPr>
            </a:lvl6pPr>
            <a:lvl7pPr>
              <a:defRPr sz="3300" b="1">
                <a:solidFill>
                  <a:srgbClr val="16324F"/>
                </a:solidFill>
              </a:defRPr>
            </a:lvl7pPr>
            <a:lvl8pPr>
              <a:defRPr sz="3300" b="1">
                <a:solidFill>
                  <a:srgbClr val="16324F"/>
                </a:solidFill>
              </a:defRPr>
            </a:lvl8pPr>
            <a:lvl9pPr>
              <a:defRPr sz="33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</a:defRPr>
            </a:pPr>
            <a:r>
              <a:rPr sz="3300" b="1">
                <a:solidFill>
                  <a:srgbClr val="16324F"/>
                </a:solidFill>
              </a:rPr>
              <a:t>System path: prediction to dispatch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402C3-4C52-4D18-902A-A6588D2A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A9690-6020-476A-BA86-FB317EEC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6EFF3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  <p:txBody>
          <a:bodyPr xmlns:a="http://schemas.openxmlformats.org/drawingml/2006/main" lIns="133350" tIns="95250" rIns="133350" bIns="76200"/>
          <a:lstStyle xmlns:a="http://schemas.openxmlformats.org/drawingml/2006/main">
            <a:defPPr>
              <a:defRPr sz="1725" b="1">
                <a:solidFill>
                  <a:srgbClr val="172B3A"/>
                </a:solidFill>
              </a:defRPr>
            </a:defPPr>
            <a:lvl1pPr>
              <a:defRPr sz="1725" b="1">
                <a:solidFill>
                  <a:srgbClr val="172B3A"/>
                </a:solidFill>
              </a:defRPr>
            </a:lvl1pPr>
            <a:lvl2pPr>
              <a:defRPr sz="1725" b="1">
                <a:solidFill>
                  <a:srgbClr val="172B3A"/>
                </a:solidFill>
              </a:defRPr>
            </a:lvl2pPr>
            <a:lvl3pPr>
              <a:defRPr sz="1725" b="1">
                <a:solidFill>
                  <a:srgbClr val="172B3A"/>
                </a:solidFill>
              </a:defRPr>
            </a:lvl3pPr>
            <a:lvl4pPr>
              <a:defRPr sz="1725" b="1">
                <a:solidFill>
                  <a:srgbClr val="172B3A"/>
                </a:solidFill>
              </a:defRPr>
            </a:lvl4pPr>
            <a:lvl5pPr>
              <a:defRPr sz="1725" b="1">
                <a:solidFill>
                  <a:srgbClr val="172B3A"/>
                </a:solidFill>
              </a:defRPr>
            </a:lvl5pPr>
            <a:lvl6pPr>
              <a:defRPr sz="1725" b="1">
                <a:solidFill>
                  <a:srgbClr val="172B3A"/>
                </a:solidFill>
              </a:defRPr>
            </a:lvl6pPr>
            <a:lvl7pPr>
              <a:defRPr sz="1725" b="1">
                <a:solidFill>
                  <a:srgbClr val="172B3A"/>
                </a:solidFill>
              </a:defRPr>
            </a:lvl7pPr>
            <a:lvl8pPr>
              <a:defRPr sz="1725" b="1">
                <a:solidFill>
                  <a:srgbClr val="172B3A"/>
                </a:solidFill>
              </a:defRPr>
            </a:lvl8pPr>
            <a:lvl9pPr>
              <a:defRPr sz="172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B3A"/>
                </a:solidFill>
              </a:defRPr>
            </a:pPr>
            <a:r>
              <a:rPr sz="1725" b="1">
                <a:solidFill>
                  <a:srgbClr val="172B3A"/>
                </a:solidFill>
              </a:rPr>
              <a:t>Task features</a:t>
            </a:r>
          </a:p>
          <a:p xmlns:a="http://schemas.openxmlformats.org/drawingml/2006/main">
            <a:pPr>
              <a:defRPr sz="1725" b="1">
                <a:solidFill>
                  <a:srgbClr val="172B3A"/>
                </a:solidFill>
              </a:defRPr>
            </a:pPr>
            <a:r>
              <a:rPr sz="1725" b="1">
                <a:solidFill>
                  <a:srgbClr val="172B3A"/>
                </a:solidFill>
              </a:rPr>
              <a:t>CPU • RAM • 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2D71B-7311-45A8-94F4-32242F31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669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6EFF3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  <p:txBody>
          <a:bodyPr xmlns:a="http://schemas.openxmlformats.org/drawingml/2006/main" lIns="133350" tIns="95250" rIns="133350" bIns="76200"/>
          <a:lstStyle xmlns:a="http://schemas.openxmlformats.org/drawingml/2006/main">
            <a:defPPr>
              <a:defRPr sz="1725" b="1">
                <a:solidFill>
                  <a:srgbClr val="172B3A"/>
                </a:solidFill>
              </a:defRPr>
            </a:defPPr>
            <a:lvl1pPr>
              <a:defRPr sz="1725" b="1">
                <a:solidFill>
                  <a:srgbClr val="172B3A"/>
                </a:solidFill>
              </a:defRPr>
            </a:lvl1pPr>
            <a:lvl2pPr>
              <a:defRPr sz="1725" b="1">
                <a:solidFill>
                  <a:srgbClr val="172B3A"/>
                </a:solidFill>
              </a:defRPr>
            </a:lvl2pPr>
            <a:lvl3pPr>
              <a:defRPr sz="1725" b="1">
                <a:solidFill>
                  <a:srgbClr val="172B3A"/>
                </a:solidFill>
              </a:defRPr>
            </a:lvl3pPr>
            <a:lvl4pPr>
              <a:defRPr sz="1725" b="1">
                <a:solidFill>
                  <a:srgbClr val="172B3A"/>
                </a:solidFill>
              </a:defRPr>
            </a:lvl4pPr>
            <a:lvl5pPr>
              <a:defRPr sz="1725" b="1">
                <a:solidFill>
                  <a:srgbClr val="172B3A"/>
                </a:solidFill>
              </a:defRPr>
            </a:lvl5pPr>
            <a:lvl6pPr>
              <a:defRPr sz="1725" b="1">
                <a:solidFill>
                  <a:srgbClr val="172B3A"/>
                </a:solidFill>
              </a:defRPr>
            </a:lvl6pPr>
            <a:lvl7pPr>
              <a:defRPr sz="1725" b="1">
                <a:solidFill>
                  <a:srgbClr val="172B3A"/>
                </a:solidFill>
              </a:defRPr>
            </a:lvl7pPr>
            <a:lvl8pPr>
              <a:defRPr sz="1725" b="1">
                <a:solidFill>
                  <a:srgbClr val="172B3A"/>
                </a:solidFill>
              </a:defRPr>
            </a:lvl8pPr>
            <a:lvl9pPr>
              <a:defRPr sz="172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B3A"/>
                </a:solidFill>
              </a:defRPr>
            </a:pPr>
            <a:r>
              <a:rPr sz="1725" b="1">
                <a:solidFill>
                  <a:srgbClr val="172B3A"/>
                </a:solidFill>
              </a:rPr>
              <a:t>RF runtime</a:t>
            </a:r>
          </a:p>
          <a:p xmlns:a="http://schemas.openxmlformats.org/drawingml/2006/main">
            <a:pPr>
              <a:defRPr sz="1725" b="1">
                <a:solidFill>
                  <a:srgbClr val="172B3A"/>
                </a:solidFill>
              </a:defRPr>
            </a:pPr>
            <a:r>
              <a:rPr sz="1725" b="1">
                <a:solidFill>
                  <a:srgbClr val="172B3A"/>
                </a:solidFill>
              </a:rPr>
              <a:t>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451BE-BBC8-48C6-8DFA-0F73442C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669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  <p:txBody>
          <a:bodyPr xmlns:a="http://schemas.openxmlformats.org/drawingml/2006/main" lIns="133350" tIns="95250" rIns="133350" bIns="76200"/>
          <a:lstStyle xmlns:a="http://schemas.openxmlformats.org/drawingml/2006/main">
            <a:defPPr>
              <a:defRPr sz="1725" b="1">
                <a:solidFill>
                  <a:srgbClr val="172B3A"/>
                </a:solidFill>
              </a:defRPr>
            </a:defPPr>
            <a:lvl1pPr>
              <a:defRPr sz="1725" b="1">
                <a:solidFill>
                  <a:srgbClr val="172B3A"/>
                </a:solidFill>
              </a:defRPr>
            </a:lvl1pPr>
            <a:lvl2pPr>
              <a:defRPr sz="1725" b="1">
                <a:solidFill>
                  <a:srgbClr val="172B3A"/>
                </a:solidFill>
              </a:defRPr>
            </a:lvl2pPr>
            <a:lvl3pPr>
              <a:defRPr sz="1725" b="1">
                <a:solidFill>
                  <a:srgbClr val="172B3A"/>
                </a:solidFill>
              </a:defRPr>
            </a:lvl3pPr>
            <a:lvl4pPr>
              <a:defRPr sz="1725" b="1">
                <a:solidFill>
                  <a:srgbClr val="172B3A"/>
                </a:solidFill>
              </a:defRPr>
            </a:lvl4pPr>
            <a:lvl5pPr>
              <a:defRPr sz="1725" b="1">
                <a:solidFill>
                  <a:srgbClr val="172B3A"/>
                </a:solidFill>
              </a:defRPr>
            </a:lvl5pPr>
            <a:lvl6pPr>
              <a:defRPr sz="1725" b="1">
                <a:solidFill>
                  <a:srgbClr val="172B3A"/>
                </a:solidFill>
              </a:defRPr>
            </a:lvl6pPr>
            <a:lvl7pPr>
              <a:defRPr sz="1725" b="1">
                <a:solidFill>
                  <a:srgbClr val="172B3A"/>
                </a:solidFill>
              </a:defRPr>
            </a:lvl7pPr>
            <a:lvl8pPr>
              <a:defRPr sz="1725" b="1">
                <a:solidFill>
                  <a:srgbClr val="172B3A"/>
                </a:solidFill>
              </a:defRPr>
            </a:lvl8pPr>
            <a:lvl9pPr>
              <a:defRPr sz="172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B3A"/>
                </a:solidFill>
              </a:defRPr>
            </a:pPr>
            <a:r>
              <a:rPr sz="1725" b="1">
                <a:solidFill>
                  <a:srgbClr val="172B3A"/>
                </a:solidFill>
              </a:rPr>
              <a:t>Residual</a:t>
            </a:r>
          </a:p>
          <a:p xmlns:a="http://schemas.openxmlformats.org/drawingml/2006/main">
            <a:pPr>
              <a:defRPr sz="1725" b="1">
                <a:solidFill>
                  <a:srgbClr val="172B3A"/>
                </a:solidFill>
              </a:defRPr>
            </a:pPr>
            <a:r>
              <a:rPr sz="1725" b="1">
                <a:solidFill>
                  <a:srgbClr val="172B3A"/>
                </a:solidFill>
              </a:rPr>
              <a:t>calibration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A0CC7-C32F-438D-B669-936F4045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669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  <p:txBody>
          <a:bodyPr xmlns:a="http://schemas.openxmlformats.org/drawingml/2006/main" lIns="133350" tIns="95250" rIns="133350" bIns="76200"/>
          <a:lstStyle xmlns:a="http://schemas.openxmlformats.org/drawingml/2006/main">
            <a:defPPr>
              <a:defRPr sz="1725" b="1">
                <a:solidFill>
                  <a:srgbClr val="172B3A"/>
                </a:solidFill>
              </a:defRPr>
            </a:defPPr>
            <a:lvl1pPr>
              <a:defRPr sz="1725" b="1">
                <a:solidFill>
                  <a:srgbClr val="172B3A"/>
                </a:solidFill>
              </a:defRPr>
            </a:lvl1pPr>
            <a:lvl2pPr>
              <a:defRPr sz="1725" b="1">
                <a:solidFill>
                  <a:srgbClr val="172B3A"/>
                </a:solidFill>
              </a:defRPr>
            </a:lvl2pPr>
            <a:lvl3pPr>
              <a:defRPr sz="1725" b="1">
                <a:solidFill>
                  <a:srgbClr val="172B3A"/>
                </a:solidFill>
              </a:defRPr>
            </a:lvl3pPr>
            <a:lvl4pPr>
              <a:defRPr sz="1725" b="1">
                <a:solidFill>
                  <a:srgbClr val="172B3A"/>
                </a:solidFill>
              </a:defRPr>
            </a:lvl4pPr>
            <a:lvl5pPr>
              <a:defRPr sz="1725" b="1">
                <a:solidFill>
                  <a:srgbClr val="172B3A"/>
                </a:solidFill>
              </a:defRPr>
            </a:lvl5pPr>
            <a:lvl6pPr>
              <a:defRPr sz="1725" b="1">
                <a:solidFill>
                  <a:srgbClr val="172B3A"/>
                </a:solidFill>
              </a:defRPr>
            </a:lvl6pPr>
            <a:lvl7pPr>
              <a:defRPr sz="1725" b="1">
                <a:solidFill>
                  <a:srgbClr val="172B3A"/>
                </a:solidFill>
              </a:defRPr>
            </a:lvl7pPr>
            <a:lvl8pPr>
              <a:defRPr sz="1725" b="1">
                <a:solidFill>
                  <a:srgbClr val="172B3A"/>
                </a:solidFill>
              </a:defRPr>
            </a:lvl8pPr>
            <a:lvl9pPr>
              <a:defRPr sz="172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B3A"/>
                </a:solidFill>
              </a:defRPr>
            </a:pPr>
            <a:r>
              <a:rPr sz="1725" b="1">
                <a:solidFill>
                  <a:srgbClr val="172B3A"/>
                </a:solidFill>
              </a:rPr>
              <a:t>Queue wait</a:t>
            </a:r>
          </a:p>
          <a:p xmlns:a="http://schemas.openxmlformats.org/drawingml/2006/main">
            <a:pPr>
              <a:defRPr sz="1725" b="1">
                <a:solidFill>
                  <a:srgbClr val="172B3A"/>
                </a:solidFill>
              </a:defRPr>
            </a:pPr>
            <a:r>
              <a:rPr sz="1725" b="1">
                <a:solidFill>
                  <a:srgbClr val="172B3A"/>
                </a:solidFill>
              </a:rPr>
              <a:t>+ deadline slack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79960-5945-48AE-93E0-B7A5DEA0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669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  <p:txBody>
          <a:bodyPr xmlns:a="http://schemas.openxmlformats.org/drawingml/2006/main" lIns="133350" tIns="95250" rIns="133350" bIns="76200"/>
          <a:lstStyle xmlns:a="http://schemas.openxmlformats.org/drawingml/2006/main">
            <a:defPPr>
              <a:defRPr sz="1725" b="1">
                <a:solidFill>
                  <a:srgbClr val="172B3A"/>
                </a:solidFill>
              </a:defRPr>
            </a:defPPr>
            <a:lvl1pPr>
              <a:defRPr sz="1725" b="1">
                <a:solidFill>
                  <a:srgbClr val="172B3A"/>
                </a:solidFill>
              </a:defRPr>
            </a:lvl1pPr>
            <a:lvl2pPr>
              <a:defRPr sz="1725" b="1">
                <a:solidFill>
                  <a:srgbClr val="172B3A"/>
                </a:solidFill>
              </a:defRPr>
            </a:lvl2pPr>
            <a:lvl3pPr>
              <a:defRPr sz="1725" b="1">
                <a:solidFill>
                  <a:srgbClr val="172B3A"/>
                </a:solidFill>
              </a:defRPr>
            </a:lvl3pPr>
            <a:lvl4pPr>
              <a:defRPr sz="1725" b="1">
                <a:solidFill>
                  <a:srgbClr val="172B3A"/>
                </a:solidFill>
              </a:defRPr>
            </a:lvl4pPr>
            <a:lvl5pPr>
              <a:defRPr sz="1725" b="1">
                <a:solidFill>
                  <a:srgbClr val="172B3A"/>
                </a:solidFill>
              </a:defRPr>
            </a:lvl5pPr>
            <a:lvl6pPr>
              <a:defRPr sz="1725" b="1">
                <a:solidFill>
                  <a:srgbClr val="172B3A"/>
                </a:solidFill>
              </a:defRPr>
            </a:lvl6pPr>
            <a:lvl7pPr>
              <a:defRPr sz="1725" b="1">
                <a:solidFill>
                  <a:srgbClr val="172B3A"/>
                </a:solidFill>
              </a:defRPr>
            </a:lvl7pPr>
            <a:lvl8pPr>
              <a:defRPr sz="1725" b="1">
                <a:solidFill>
                  <a:srgbClr val="172B3A"/>
                </a:solidFill>
              </a:defRPr>
            </a:lvl8pPr>
            <a:lvl9pPr>
              <a:defRPr sz="172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B3A"/>
                </a:solidFill>
              </a:defRPr>
            </a:pPr>
            <a:r>
              <a:rPr sz="1725" b="1">
                <a:solidFill>
                  <a:srgbClr val="172B3A"/>
                </a:solidFill>
              </a:rPr>
              <a:t>Task dispatch</a:t>
            </a:r>
          </a:p>
          <a:p xmlns:a="http://schemas.openxmlformats.org/drawingml/2006/main">
            <a:pPr>
              <a:defRPr sz="1725" b="1">
                <a:solidFill>
                  <a:srgbClr val="172B3A"/>
                </a:solidFill>
              </a:defRPr>
            </a:pPr>
            <a:r>
              <a:rPr sz="1725" b="1">
                <a:solidFill>
                  <a:srgbClr val="172B3A"/>
                </a:solidFill>
              </a:rPr>
              <a:t>into SimPy workers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C181B-3981-4B93-84BD-35D49908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D6A8A"/>
                </a:solidFill>
              </a:defRPr>
            </a:defPPr>
            <a:lvl1pPr>
              <a:defRPr sz="1650" b="1">
                <a:solidFill>
                  <a:srgbClr val="2D6A8A"/>
                </a:solidFill>
              </a:defRPr>
            </a:lvl1pPr>
            <a:lvl2pPr>
              <a:defRPr sz="1650" b="1">
                <a:solidFill>
                  <a:srgbClr val="2D6A8A"/>
                </a:solidFill>
              </a:defRPr>
            </a:lvl2pPr>
            <a:lvl3pPr>
              <a:defRPr sz="1650" b="1">
                <a:solidFill>
                  <a:srgbClr val="2D6A8A"/>
                </a:solidFill>
              </a:defRPr>
            </a:lvl3pPr>
            <a:lvl4pPr>
              <a:defRPr sz="1650" b="1">
                <a:solidFill>
                  <a:srgbClr val="2D6A8A"/>
                </a:solidFill>
              </a:defRPr>
            </a:lvl4pPr>
            <a:lvl5pPr>
              <a:defRPr sz="1650" b="1">
                <a:solidFill>
                  <a:srgbClr val="2D6A8A"/>
                </a:solidFill>
              </a:defRPr>
            </a:lvl5pPr>
            <a:lvl6pPr>
              <a:defRPr sz="1650" b="1">
                <a:solidFill>
                  <a:srgbClr val="2D6A8A"/>
                </a:solidFill>
              </a:defRPr>
            </a:lvl6pPr>
            <a:lvl7pPr>
              <a:defRPr sz="1650" b="1">
                <a:solidFill>
                  <a:srgbClr val="2D6A8A"/>
                </a:solidFill>
              </a:defRPr>
            </a:lvl7pPr>
            <a:lvl8pPr>
              <a:defRPr sz="1650" b="1">
                <a:solidFill>
                  <a:srgbClr val="2D6A8A"/>
                </a:solidFill>
              </a:defRPr>
            </a:lvl8pPr>
            <a:lvl9pPr>
              <a:defRPr sz="1650" b="1">
                <a:solidFill>
                  <a:srgbClr val="2D6A8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D6A8A"/>
                </a:solidFill>
              </a:defRPr>
            </a:pPr>
            <a:r>
              <a:rPr sz="1650" b="1">
                <a:solidFill>
                  <a:srgbClr val="2D6A8A"/>
                </a:solidFill>
              </a:rPr>
              <a:t>Train 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FFA51-2452-4EC8-8770-A4AC7A85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A9D8F"/>
                </a:solidFill>
              </a:defRPr>
            </a:defPPr>
            <a:lvl1pPr>
              <a:defRPr sz="1650" b="1">
                <a:solidFill>
                  <a:srgbClr val="2A9D8F"/>
                </a:solidFill>
              </a:defRPr>
            </a:lvl1pPr>
            <a:lvl2pPr>
              <a:defRPr sz="1650" b="1">
                <a:solidFill>
                  <a:srgbClr val="2A9D8F"/>
                </a:solidFill>
              </a:defRPr>
            </a:lvl2pPr>
            <a:lvl3pPr>
              <a:defRPr sz="1650" b="1">
                <a:solidFill>
                  <a:srgbClr val="2A9D8F"/>
                </a:solidFill>
              </a:defRPr>
            </a:lvl3pPr>
            <a:lvl4pPr>
              <a:defRPr sz="1650" b="1">
                <a:solidFill>
                  <a:srgbClr val="2A9D8F"/>
                </a:solidFill>
              </a:defRPr>
            </a:lvl4pPr>
            <a:lvl5pPr>
              <a:defRPr sz="1650" b="1">
                <a:solidFill>
                  <a:srgbClr val="2A9D8F"/>
                </a:solidFill>
              </a:defRPr>
            </a:lvl5pPr>
            <a:lvl6pPr>
              <a:defRPr sz="1650" b="1">
                <a:solidFill>
                  <a:srgbClr val="2A9D8F"/>
                </a:solidFill>
              </a:defRPr>
            </a:lvl6pPr>
            <a:lvl7pPr>
              <a:defRPr sz="1650" b="1">
                <a:solidFill>
                  <a:srgbClr val="2A9D8F"/>
                </a:solidFill>
              </a:defRPr>
            </a:lvl7pPr>
            <a:lvl8pPr>
              <a:defRPr sz="1650" b="1">
                <a:solidFill>
                  <a:srgbClr val="2A9D8F"/>
                </a:solidFill>
              </a:defRPr>
            </a:lvl8pPr>
            <a:lvl9pPr>
              <a:defRPr sz="1650" b="1">
                <a:solidFill>
                  <a:srgbClr val="2A9D8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A9D8F"/>
                </a:solidFill>
              </a:defRPr>
            </a:pPr>
            <a:r>
              <a:rPr sz="1650" b="1">
                <a:solidFill>
                  <a:srgbClr val="2A9D8F"/>
                </a:solidFill>
              </a:rPr>
              <a:t>Calibration 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0AE2D-8697-485D-BEDF-4D05D70B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C45B43"/>
                </a:solidFill>
              </a:defRPr>
            </a:defPPr>
            <a:lvl1pPr>
              <a:defRPr sz="1650" b="1">
                <a:solidFill>
                  <a:srgbClr val="C45B43"/>
                </a:solidFill>
              </a:defRPr>
            </a:lvl1pPr>
            <a:lvl2pPr>
              <a:defRPr sz="1650" b="1">
                <a:solidFill>
                  <a:srgbClr val="C45B43"/>
                </a:solidFill>
              </a:defRPr>
            </a:lvl2pPr>
            <a:lvl3pPr>
              <a:defRPr sz="1650" b="1">
                <a:solidFill>
                  <a:srgbClr val="C45B43"/>
                </a:solidFill>
              </a:defRPr>
            </a:lvl3pPr>
            <a:lvl4pPr>
              <a:defRPr sz="1650" b="1">
                <a:solidFill>
                  <a:srgbClr val="C45B43"/>
                </a:solidFill>
              </a:defRPr>
            </a:lvl4pPr>
            <a:lvl5pPr>
              <a:defRPr sz="1650" b="1">
                <a:solidFill>
                  <a:srgbClr val="C45B43"/>
                </a:solidFill>
              </a:defRPr>
            </a:lvl5pPr>
            <a:lvl6pPr>
              <a:defRPr sz="1650" b="1">
                <a:solidFill>
                  <a:srgbClr val="C45B43"/>
                </a:solidFill>
              </a:defRPr>
            </a:lvl6pPr>
            <a:lvl7pPr>
              <a:defRPr sz="1650" b="1">
                <a:solidFill>
                  <a:srgbClr val="C45B43"/>
                </a:solidFill>
              </a:defRPr>
            </a:lvl7pPr>
            <a:lvl8pPr>
              <a:defRPr sz="1650" b="1">
                <a:solidFill>
                  <a:srgbClr val="C45B43"/>
                </a:solidFill>
              </a:defRPr>
            </a:lvl8pPr>
            <a:lvl9pPr>
              <a:defRPr sz="1650" b="1">
                <a:solidFill>
                  <a:srgbClr val="C45B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45B43"/>
                </a:solidFill>
              </a:defRPr>
            </a:pPr>
            <a:r>
              <a:rPr sz="1650" b="1">
                <a:solidFill>
                  <a:srgbClr val="C45B43"/>
                </a:solidFill>
              </a:rPr>
              <a:t>Held-out test split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DE8FE-9714-4CA7-927B-8E6CA69C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The existing ingress buffer, FIFO queue storage, SimPy worker pool, and autoscalers remain in place. Dispatch policy is a separate choice.</a:t>
            </a:r>
          </a:p>
        </p:txBody>
      </p:sp>
    </p:spTree>
    <p:extLst>
      <p:ext uri="{BB962C8B-B14F-4D97-AF65-F5344CB8AC3E}">
        <p14:creationId xmlns:p14="http://schemas.microsoft.com/office/powerpoint/2010/main" val="1746204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12F40-D064-4A83-A5DC-C3F0CB86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324F"/>
                </a:solidFill>
              </a:defRPr>
            </a:defPPr>
            <a:lvl1pPr>
              <a:defRPr sz="3300" b="1">
                <a:solidFill>
                  <a:srgbClr val="16324F"/>
                </a:solidFill>
              </a:defRPr>
            </a:lvl1pPr>
            <a:lvl2pPr>
              <a:defRPr sz="3300" b="1">
                <a:solidFill>
                  <a:srgbClr val="16324F"/>
                </a:solidFill>
              </a:defRPr>
            </a:lvl2pPr>
            <a:lvl3pPr>
              <a:defRPr sz="3300" b="1">
                <a:solidFill>
                  <a:srgbClr val="16324F"/>
                </a:solidFill>
              </a:defRPr>
            </a:lvl3pPr>
            <a:lvl4pPr>
              <a:defRPr sz="3300" b="1">
                <a:solidFill>
                  <a:srgbClr val="16324F"/>
                </a:solidFill>
              </a:defRPr>
            </a:lvl4pPr>
            <a:lvl5pPr>
              <a:defRPr sz="3300" b="1">
                <a:solidFill>
                  <a:srgbClr val="16324F"/>
                </a:solidFill>
              </a:defRPr>
            </a:lvl5pPr>
            <a:lvl6pPr>
              <a:defRPr sz="3300" b="1">
                <a:solidFill>
                  <a:srgbClr val="16324F"/>
                </a:solidFill>
              </a:defRPr>
            </a:lvl6pPr>
            <a:lvl7pPr>
              <a:defRPr sz="3300" b="1">
                <a:solidFill>
                  <a:srgbClr val="16324F"/>
                </a:solidFill>
              </a:defRPr>
            </a:lvl7pPr>
            <a:lvl8pPr>
              <a:defRPr sz="3300" b="1">
                <a:solidFill>
                  <a:srgbClr val="16324F"/>
                </a:solidFill>
              </a:defRPr>
            </a:lvl8pPr>
            <a:lvl9pPr>
              <a:defRPr sz="33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</a:defRPr>
            </a:pPr>
            <a:r>
              <a:rPr sz="3300" b="1">
                <a:solidFill>
                  <a:srgbClr val="16324F"/>
                </a:solidFill>
              </a:rPr>
              <a:t>Runtime estimate and residual calibration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24E15-A613-4946-9BEE-A3AE4074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4454A-850A-4133-BD9B-02457832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6EFF3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  <p:txBody>
          <a:bodyPr xmlns:a="http://schemas.openxmlformats.org/drawingml/2006/main" lIns="133350" tIns="95250" rIns="133350" bIns="76200"/>
          <a:lstStyle xmlns:a="http://schemas.openxmlformats.org/drawingml/2006/main">
            <a:defPPr>
              <a:defRPr sz="2100" b="1">
                <a:solidFill>
                  <a:srgbClr val="16324F"/>
                </a:solidFill>
              </a:defRPr>
            </a:defPPr>
            <a:lvl1pPr>
              <a:defRPr sz="2100" b="1">
                <a:solidFill>
                  <a:srgbClr val="16324F"/>
                </a:solidFill>
              </a:defRPr>
            </a:lvl1pPr>
            <a:lvl2pPr>
              <a:defRPr sz="2100" b="1">
                <a:solidFill>
                  <a:srgbClr val="16324F"/>
                </a:solidFill>
              </a:defRPr>
            </a:lvl2pPr>
            <a:lvl3pPr>
              <a:defRPr sz="2100" b="1">
                <a:solidFill>
                  <a:srgbClr val="16324F"/>
                </a:solidFill>
              </a:defRPr>
            </a:lvl3pPr>
            <a:lvl4pPr>
              <a:defRPr sz="2100" b="1">
                <a:solidFill>
                  <a:srgbClr val="16324F"/>
                </a:solidFill>
              </a:defRPr>
            </a:lvl4pPr>
            <a:lvl5pPr>
              <a:defRPr sz="2100" b="1">
                <a:solidFill>
                  <a:srgbClr val="16324F"/>
                </a:solidFill>
              </a:defRPr>
            </a:lvl5pPr>
            <a:lvl6pPr>
              <a:defRPr sz="2100" b="1">
                <a:solidFill>
                  <a:srgbClr val="16324F"/>
                </a:solidFill>
              </a:defRPr>
            </a:lvl6pPr>
            <a:lvl7pPr>
              <a:defRPr sz="2100" b="1">
                <a:solidFill>
                  <a:srgbClr val="16324F"/>
                </a:solidFill>
              </a:defRPr>
            </a:lvl7pPr>
            <a:lvl8pPr>
              <a:defRPr sz="2100" b="1">
                <a:solidFill>
                  <a:srgbClr val="16324F"/>
                </a:solidFill>
              </a:defRPr>
            </a:lvl8pPr>
            <a:lvl9pPr>
              <a:defRPr sz="21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324F"/>
                </a:solidFill>
              </a:defRPr>
            </a:pPr>
            <a:r>
              <a:rPr sz="2100" b="1">
                <a:solidFill>
                  <a:srgbClr val="16324F"/>
                </a:solidFill>
              </a:rPr>
              <a:t>60%</a:t>
            </a:r>
          </a:p>
          <a:p xmlns:a="http://schemas.openxmlformats.org/drawingml/2006/main">
            <a:pPr>
              <a:defRPr sz="2100" b="1">
                <a:solidFill>
                  <a:srgbClr val="16324F"/>
                </a:solidFill>
              </a:defRPr>
            </a:pPr>
            <a:r>
              <a:rPr sz="2100" b="1">
                <a:solidFill>
                  <a:srgbClr val="16324F"/>
                </a:solidFill>
              </a:rPr>
              <a:t>Train RF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34785-1105-497D-BD28-72F7C37B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14550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2D6A8A"/>
                </a:solidFill>
              </a:defRPr>
            </a:defPPr>
            <a:lvl1pPr>
              <a:defRPr sz="3000" b="1">
                <a:solidFill>
                  <a:srgbClr val="2D6A8A"/>
                </a:solidFill>
              </a:defRPr>
            </a:lvl1pPr>
            <a:lvl2pPr>
              <a:defRPr sz="3000" b="1">
                <a:solidFill>
                  <a:srgbClr val="2D6A8A"/>
                </a:solidFill>
              </a:defRPr>
            </a:lvl2pPr>
            <a:lvl3pPr>
              <a:defRPr sz="3000" b="1">
                <a:solidFill>
                  <a:srgbClr val="2D6A8A"/>
                </a:solidFill>
              </a:defRPr>
            </a:lvl3pPr>
            <a:lvl4pPr>
              <a:defRPr sz="3000" b="1">
                <a:solidFill>
                  <a:srgbClr val="2D6A8A"/>
                </a:solidFill>
              </a:defRPr>
            </a:lvl4pPr>
            <a:lvl5pPr>
              <a:defRPr sz="3000" b="1">
                <a:solidFill>
                  <a:srgbClr val="2D6A8A"/>
                </a:solidFill>
              </a:defRPr>
            </a:lvl5pPr>
            <a:lvl6pPr>
              <a:defRPr sz="3000" b="1">
                <a:solidFill>
                  <a:srgbClr val="2D6A8A"/>
                </a:solidFill>
              </a:defRPr>
            </a:lvl6pPr>
            <a:lvl7pPr>
              <a:defRPr sz="3000" b="1">
                <a:solidFill>
                  <a:srgbClr val="2D6A8A"/>
                </a:solidFill>
              </a:defRPr>
            </a:lvl7pPr>
            <a:lvl8pPr>
              <a:defRPr sz="3000" b="1">
                <a:solidFill>
                  <a:srgbClr val="2D6A8A"/>
                </a:solidFill>
              </a:defRPr>
            </a:lvl8pPr>
            <a:lvl9pPr>
              <a:defRPr sz="3000" b="1">
                <a:solidFill>
                  <a:srgbClr val="2D6A8A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D6A8A"/>
                </a:solidFill>
              </a:defRPr>
            </a:pPr>
            <a:r>
              <a:rPr sz="3000" b="1">
                <a:solidFill>
                  <a:srgbClr val="2D6A8A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656FA-5ADC-46FB-93B3-9989D4E8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0975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  <p:txBody>
          <a:bodyPr xmlns:a="http://schemas.openxmlformats.org/drawingml/2006/main" lIns="133350" tIns="95250" rIns="133350" bIns="76200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  <a:lvl1pPr>
              <a:defRPr sz="1875" b="1">
                <a:solidFill>
                  <a:srgbClr val="16324F"/>
                </a:solidFill>
              </a:defRPr>
            </a:lvl1pPr>
            <a:lvl2pPr>
              <a:defRPr sz="1875" b="1">
                <a:solidFill>
                  <a:srgbClr val="16324F"/>
                </a:solidFill>
              </a:defRPr>
            </a:lvl2pPr>
            <a:lvl3pPr>
              <a:defRPr sz="1875" b="1">
                <a:solidFill>
                  <a:srgbClr val="16324F"/>
                </a:solidFill>
              </a:defRPr>
            </a:lvl3pPr>
            <a:lvl4pPr>
              <a:defRPr sz="1875" b="1">
                <a:solidFill>
                  <a:srgbClr val="16324F"/>
                </a:solidFill>
              </a:defRPr>
            </a:lvl4pPr>
            <a:lvl5pPr>
              <a:defRPr sz="1875" b="1">
                <a:solidFill>
                  <a:srgbClr val="16324F"/>
                </a:solidFill>
              </a:defRPr>
            </a:lvl5pPr>
            <a:lvl6pPr>
              <a:defRPr sz="1875" b="1">
                <a:solidFill>
                  <a:srgbClr val="16324F"/>
                </a:solidFill>
              </a:defRPr>
            </a:lvl6pPr>
            <a:lvl7pPr>
              <a:defRPr sz="1875" b="1">
                <a:solidFill>
                  <a:srgbClr val="16324F"/>
                </a:solidFill>
              </a:defRPr>
            </a:lvl7pPr>
            <a:lvl8pPr>
              <a:defRPr sz="1875" b="1">
                <a:solidFill>
                  <a:srgbClr val="16324F"/>
                </a:solidFill>
              </a:defRPr>
            </a:lvl8pPr>
            <a:lvl9pPr>
              <a:defRPr sz="18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15%</a:t>
            </a:r>
          </a:p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Calibrate residual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C30D9-6B1F-4663-A000-7EA5DF49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14550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2D6A8A"/>
                </a:solidFill>
              </a:defRPr>
            </a:defPPr>
            <a:lvl1pPr>
              <a:defRPr sz="3000" b="1">
                <a:solidFill>
                  <a:srgbClr val="2D6A8A"/>
                </a:solidFill>
              </a:defRPr>
            </a:lvl1pPr>
            <a:lvl2pPr>
              <a:defRPr sz="3000" b="1">
                <a:solidFill>
                  <a:srgbClr val="2D6A8A"/>
                </a:solidFill>
              </a:defRPr>
            </a:lvl2pPr>
            <a:lvl3pPr>
              <a:defRPr sz="3000" b="1">
                <a:solidFill>
                  <a:srgbClr val="2D6A8A"/>
                </a:solidFill>
              </a:defRPr>
            </a:lvl3pPr>
            <a:lvl4pPr>
              <a:defRPr sz="3000" b="1">
                <a:solidFill>
                  <a:srgbClr val="2D6A8A"/>
                </a:solidFill>
              </a:defRPr>
            </a:lvl4pPr>
            <a:lvl5pPr>
              <a:defRPr sz="3000" b="1">
                <a:solidFill>
                  <a:srgbClr val="2D6A8A"/>
                </a:solidFill>
              </a:defRPr>
            </a:lvl5pPr>
            <a:lvl6pPr>
              <a:defRPr sz="3000" b="1">
                <a:solidFill>
                  <a:srgbClr val="2D6A8A"/>
                </a:solidFill>
              </a:defRPr>
            </a:lvl6pPr>
            <a:lvl7pPr>
              <a:defRPr sz="3000" b="1">
                <a:solidFill>
                  <a:srgbClr val="2D6A8A"/>
                </a:solidFill>
              </a:defRPr>
            </a:lvl7pPr>
            <a:lvl8pPr>
              <a:defRPr sz="3000" b="1">
                <a:solidFill>
                  <a:srgbClr val="2D6A8A"/>
                </a:solidFill>
              </a:defRPr>
            </a:lvl8pPr>
            <a:lvl9pPr>
              <a:defRPr sz="3000" b="1">
                <a:solidFill>
                  <a:srgbClr val="2D6A8A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D6A8A"/>
                </a:solidFill>
              </a:defRPr>
            </a:pPr>
            <a:r>
              <a:rPr sz="3000" b="1">
                <a:solidFill>
                  <a:srgbClr val="2D6A8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22A53-2C5B-4429-9FFA-9537A995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0975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EDD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  <p:txBody>
          <a:bodyPr xmlns:a="http://schemas.openxmlformats.org/drawingml/2006/main" lIns="133350" tIns="95250" rIns="133350" bIns="76200"/>
          <a:lstStyle xmlns:a="http://schemas.openxmlformats.org/drawingml/2006/main">
            <a:defPPr>
              <a:defRPr sz="2025" b="1">
                <a:solidFill>
                  <a:srgbClr val="16324F"/>
                </a:solidFill>
              </a:defRPr>
            </a:defPPr>
            <a:lvl1pPr>
              <a:defRPr sz="2025" b="1">
                <a:solidFill>
                  <a:srgbClr val="16324F"/>
                </a:solidFill>
              </a:defRPr>
            </a:lvl1pPr>
            <a:lvl2pPr>
              <a:defRPr sz="2025" b="1">
                <a:solidFill>
                  <a:srgbClr val="16324F"/>
                </a:solidFill>
              </a:defRPr>
            </a:lvl2pPr>
            <a:lvl3pPr>
              <a:defRPr sz="2025" b="1">
                <a:solidFill>
                  <a:srgbClr val="16324F"/>
                </a:solidFill>
              </a:defRPr>
            </a:lvl3pPr>
            <a:lvl4pPr>
              <a:defRPr sz="2025" b="1">
                <a:solidFill>
                  <a:srgbClr val="16324F"/>
                </a:solidFill>
              </a:defRPr>
            </a:lvl4pPr>
            <a:lvl5pPr>
              <a:defRPr sz="2025" b="1">
                <a:solidFill>
                  <a:srgbClr val="16324F"/>
                </a:solidFill>
              </a:defRPr>
            </a:lvl5pPr>
            <a:lvl6pPr>
              <a:defRPr sz="2025" b="1">
                <a:solidFill>
                  <a:srgbClr val="16324F"/>
                </a:solidFill>
              </a:defRPr>
            </a:lvl6pPr>
            <a:lvl7pPr>
              <a:defRPr sz="2025" b="1">
                <a:solidFill>
                  <a:srgbClr val="16324F"/>
                </a:solidFill>
              </a:defRPr>
            </a:lvl7pPr>
            <a:lvl8pPr>
              <a:defRPr sz="2025" b="1">
                <a:solidFill>
                  <a:srgbClr val="16324F"/>
                </a:solidFill>
              </a:defRPr>
            </a:lvl8pPr>
            <a:lvl9pPr>
              <a:defRPr sz="20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324F"/>
                </a:solidFill>
              </a:defRPr>
            </a:pPr>
            <a:r>
              <a:rPr sz="2025" b="1">
                <a:solidFill>
                  <a:srgbClr val="16324F"/>
                </a:solidFill>
              </a:rPr>
              <a:t>10%</a:t>
            </a:r>
          </a:p>
          <a:p xmlns:a="http://schemas.openxmlformats.org/drawingml/2006/main">
            <a:pPr>
              <a:defRPr sz="2025" b="1">
                <a:solidFill>
                  <a:srgbClr val="16324F"/>
                </a:solidFill>
              </a:defRPr>
            </a:pPr>
            <a:r>
              <a:rPr sz="2025" b="1">
                <a:solidFill>
                  <a:srgbClr val="16324F"/>
                </a:solidFill>
              </a:rPr>
              <a:t>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DF8D2-9DB0-441C-82F6-F3D2CEA6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2D6A8A"/>
                </a:solidFill>
              </a:defRPr>
            </a:defPPr>
            <a:lvl1pPr>
              <a:defRPr sz="3000" b="1">
                <a:solidFill>
                  <a:srgbClr val="2D6A8A"/>
                </a:solidFill>
              </a:defRPr>
            </a:lvl1pPr>
            <a:lvl2pPr>
              <a:defRPr sz="3000" b="1">
                <a:solidFill>
                  <a:srgbClr val="2D6A8A"/>
                </a:solidFill>
              </a:defRPr>
            </a:lvl2pPr>
            <a:lvl3pPr>
              <a:defRPr sz="3000" b="1">
                <a:solidFill>
                  <a:srgbClr val="2D6A8A"/>
                </a:solidFill>
              </a:defRPr>
            </a:lvl3pPr>
            <a:lvl4pPr>
              <a:defRPr sz="3000" b="1">
                <a:solidFill>
                  <a:srgbClr val="2D6A8A"/>
                </a:solidFill>
              </a:defRPr>
            </a:lvl4pPr>
            <a:lvl5pPr>
              <a:defRPr sz="3000" b="1">
                <a:solidFill>
                  <a:srgbClr val="2D6A8A"/>
                </a:solidFill>
              </a:defRPr>
            </a:lvl5pPr>
            <a:lvl6pPr>
              <a:defRPr sz="3000" b="1">
                <a:solidFill>
                  <a:srgbClr val="2D6A8A"/>
                </a:solidFill>
              </a:defRPr>
            </a:lvl6pPr>
            <a:lvl7pPr>
              <a:defRPr sz="3000" b="1">
                <a:solidFill>
                  <a:srgbClr val="2D6A8A"/>
                </a:solidFill>
              </a:defRPr>
            </a:lvl7pPr>
            <a:lvl8pPr>
              <a:defRPr sz="3000" b="1">
                <a:solidFill>
                  <a:srgbClr val="2D6A8A"/>
                </a:solidFill>
              </a:defRPr>
            </a:lvl8pPr>
            <a:lvl9pPr>
              <a:defRPr sz="3000" b="1">
                <a:solidFill>
                  <a:srgbClr val="2D6A8A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D6A8A"/>
                </a:solidFill>
              </a:defRPr>
            </a:pPr>
            <a:r>
              <a:rPr sz="3000" b="1">
                <a:solidFill>
                  <a:srgbClr val="2D6A8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15F53-AF22-4B4D-9B95-AF6720C4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3E8E2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  <p:txBody>
          <a:bodyPr xmlns:a="http://schemas.openxmlformats.org/drawingml/2006/main" lIns="133350" tIns="95250" rIns="133350" bIns="76200"/>
          <a:lstStyle xmlns:a="http://schemas.openxmlformats.org/drawingml/2006/main">
            <a:defPPr>
              <a:defRPr sz="2025" b="1">
                <a:solidFill>
                  <a:srgbClr val="16324F"/>
                </a:solidFill>
              </a:defRPr>
            </a:defPPr>
            <a:lvl1pPr>
              <a:defRPr sz="2025" b="1">
                <a:solidFill>
                  <a:srgbClr val="16324F"/>
                </a:solidFill>
              </a:defRPr>
            </a:lvl1pPr>
            <a:lvl2pPr>
              <a:defRPr sz="2025" b="1">
                <a:solidFill>
                  <a:srgbClr val="16324F"/>
                </a:solidFill>
              </a:defRPr>
            </a:lvl2pPr>
            <a:lvl3pPr>
              <a:defRPr sz="2025" b="1">
                <a:solidFill>
                  <a:srgbClr val="16324F"/>
                </a:solidFill>
              </a:defRPr>
            </a:lvl3pPr>
            <a:lvl4pPr>
              <a:defRPr sz="2025" b="1">
                <a:solidFill>
                  <a:srgbClr val="16324F"/>
                </a:solidFill>
              </a:defRPr>
            </a:lvl4pPr>
            <a:lvl5pPr>
              <a:defRPr sz="2025" b="1">
                <a:solidFill>
                  <a:srgbClr val="16324F"/>
                </a:solidFill>
              </a:defRPr>
            </a:lvl5pPr>
            <a:lvl6pPr>
              <a:defRPr sz="2025" b="1">
                <a:solidFill>
                  <a:srgbClr val="16324F"/>
                </a:solidFill>
              </a:defRPr>
            </a:lvl6pPr>
            <a:lvl7pPr>
              <a:defRPr sz="2025" b="1">
                <a:solidFill>
                  <a:srgbClr val="16324F"/>
                </a:solidFill>
              </a:defRPr>
            </a:lvl7pPr>
            <a:lvl8pPr>
              <a:defRPr sz="2025" b="1">
                <a:solidFill>
                  <a:srgbClr val="16324F"/>
                </a:solidFill>
              </a:defRPr>
            </a:lvl8pPr>
            <a:lvl9pPr>
              <a:defRPr sz="20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324F"/>
                </a:solidFill>
              </a:defRPr>
            </a:pPr>
            <a:r>
              <a:rPr sz="2025" b="1">
                <a:solidFill>
                  <a:srgbClr val="16324F"/>
                </a:solidFill>
              </a:rPr>
              <a:t>15%</a:t>
            </a:r>
          </a:p>
          <a:p xmlns:a="http://schemas.openxmlformats.org/drawingml/2006/main">
            <a:pPr>
              <a:defRPr sz="2025" b="1">
                <a:solidFill>
                  <a:srgbClr val="16324F"/>
                </a:solidFill>
              </a:defRPr>
            </a:pPr>
            <a:r>
              <a:rPr sz="2025" b="1">
                <a:solidFill>
                  <a:srgbClr val="16324F"/>
                </a:solidFill>
              </a:rPr>
              <a:t>Held-out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FCCBF-BCD0-47A6-B93F-2E567BDB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2B3A"/>
                </a:solidFill>
              </a:defRPr>
            </a:defPPr>
            <a:lvl1pPr>
              <a:defRPr sz="2175" b="1">
                <a:solidFill>
                  <a:srgbClr val="172B3A"/>
                </a:solidFill>
              </a:defRPr>
            </a:lvl1pPr>
            <a:lvl2pPr>
              <a:defRPr sz="2175" b="1">
                <a:solidFill>
                  <a:srgbClr val="172B3A"/>
                </a:solidFill>
              </a:defRPr>
            </a:lvl2pPr>
            <a:lvl3pPr>
              <a:defRPr sz="2175" b="1">
                <a:solidFill>
                  <a:srgbClr val="172B3A"/>
                </a:solidFill>
              </a:defRPr>
            </a:lvl3pPr>
            <a:lvl4pPr>
              <a:defRPr sz="2175" b="1">
                <a:solidFill>
                  <a:srgbClr val="172B3A"/>
                </a:solidFill>
              </a:defRPr>
            </a:lvl4pPr>
            <a:lvl5pPr>
              <a:defRPr sz="2175" b="1">
                <a:solidFill>
                  <a:srgbClr val="172B3A"/>
                </a:solidFill>
              </a:defRPr>
            </a:lvl5pPr>
            <a:lvl6pPr>
              <a:defRPr sz="2175" b="1">
                <a:solidFill>
                  <a:srgbClr val="172B3A"/>
                </a:solidFill>
              </a:defRPr>
            </a:lvl6pPr>
            <a:lvl7pPr>
              <a:defRPr sz="2175" b="1">
                <a:solidFill>
                  <a:srgbClr val="172B3A"/>
                </a:solidFill>
              </a:defRPr>
            </a:lvl7pPr>
            <a:lvl8pPr>
              <a:defRPr sz="2175" b="1">
                <a:solidFill>
                  <a:srgbClr val="172B3A"/>
                </a:solidFill>
              </a:defRPr>
            </a:lvl8pPr>
            <a:lvl9pPr>
              <a:defRPr sz="217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B3A"/>
                </a:solidFill>
              </a:defRPr>
            </a:pPr>
            <a:r>
              <a:rPr sz="2175" b="1">
                <a:solidFill>
                  <a:srgbClr val="172B3A"/>
                </a:solidFill>
              </a:rPr>
              <a:t>r = actual runtime − predicted 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70E71-F348-4610-89DF-0A5B5B85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D6A8A"/>
                </a:solidFill>
              </a:defRPr>
            </a:defPPr>
            <a:lvl1pPr>
              <a:defRPr sz="2100" b="1">
                <a:solidFill>
                  <a:srgbClr val="2D6A8A"/>
                </a:solidFill>
              </a:defRPr>
            </a:lvl1pPr>
            <a:lvl2pPr>
              <a:defRPr sz="2100" b="1">
                <a:solidFill>
                  <a:srgbClr val="2D6A8A"/>
                </a:solidFill>
              </a:defRPr>
            </a:lvl2pPr>
            <a:lvl3pPr>
              <a:defRPr sz="2100" b="1">
                <a:solidFill>
                  <a:srgbClr val="2D6A8A"/>
                </a:solidFill>
              </a:defRPr>
            </a:lvl3pPr>
            <a:lvl4pPr>
              <a:defRPr sz="2100" b="1">
                <a:solidFill>
                  <a:srgbClr val="2D6A8A"/>
                </a:solidFill>
              </a:defRPr>
            </a:lvl4pPr>
            <a:lvl5pPr>
              <a:defRPr sz="2100" b="1">
                <a:solidFill>
                  <a:srgbClr val="2D6A8A"/>
                </a:solidFill>
              </a:defRPr>
            </a:lvl5pPr>
            <a:lvl6pPr>
              <a:defRPr sz="2100" b="1">
                <a:solidFill>
                  <a:srgbClr val="2D6A8A"/>
                </a:solidFill>
              </a:defRPr>
            </a:lvl6pPr>
            <a:lvl7pPr>
              <a:defRPr sz="2100" b="1">
                <a:solidFill>
                  <a:srgbClr val="2D6A8A"/>
                </a:solidFill>
              </a:defRPr>
            </a:lvl7pPr>
            <a:lvl8pPr>
              <a:defRPr sz="2100" b="1">
                <a:solidFill>
                  <a:srgbClr val="2D6A8A"/>
                </a:solidFill>
              </a:defRPr>
            </a:lvl8pPr>
            <a:lvl9pPr>
              <a:defRPr sz="2100" b="1">
                <a:solidFill>
                  <a:srgbClr val="2D6A8A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D6A8A"/>
                </a:solidFill>
              </a:defRPr>
            </a:pPr>
            <a:r>
              <a:rPr sz="2100" b="1">
                <a:solidFill>
                  <a:srgbClr val="2D6A8A"/>
                </a:solidFill>
              </a:rPr>
              <a:t>upper runtime = max(0, prediction) + max(0, 95th-percentile calibration residual)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23D19-3F9B-43C2-BEAF-91E5962F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B6B73"/>
                </a:solidFill>
              </a:defRPr>
            </a:defPPr>
            <a:lvl1pPr>
              <a:defRPr sz="1650" b="0">
                <a:solidFill>
                  <a:srgbClr val="5B6B73"/>
                </a:solidFill>
              </a:defRPr>
            </a:lvl1pPr>
            <a:lvl2pPr>
              <a:defRPr sz="1650" b="0">
                <a:solidFill>
                  <a:srgbClr val="5B6B73"/>
                </a:solidFill>
              </a:defRPr>
            </a:lvl2pPr>
            <a:lvl3pPr>
              <a:defRPr sz="1650" b="0">
                <a:solidFill>
                  <a:srgbClr val="5B6B73"/>
                </a:solidFill>
              </a:defRPr>
            </a:lvl3pPr>
            <a:lvl4pPr>
              <a:defRPr sz="1650" b="0">
                <a:solidFill>
                  <a:srgbClr val="5B6B73"/>
                </a:solidFill>
              </a:defRPr>
            </a:lvl4pPr>
            <a:lvl5pPr>
              <a:defRPr sz="1650" b="0">
                <a:solidFill>
                  <a:srgbClr val="5B6B73"/>
                </a:solidFill>
              </a:defRPr>
            </a:lvl5pPr>
            <a:lvl6pPr>
              <a:defRPr sz="1650" b="0">
                <a:solidFill>
                  <a:srgbClr val="5B6B73"/>
                </a:solidFill>
              </a:defRPr>
            </a:lvl6pPr>
            <a:lvl7pPr>
              <a:defRPr sz="1650" b="0">
                <a:solidFill>
                  <a:srgbClr val="5B6B73"/>
                </a:solidFill>
              </a:defRPr>
            </a:lvl7pPr>
            <a:lvl8pPr>
              <a:defRPr sz="1650" b="0">
                <a:solidFill>
                  <a:srgbClr val="5B6B73"/>
                </a:solidFill>
              </a:defRPr>
            </a:lvl8pPr>
            <a:lvl9pPr>
              <a:defRPr sz="1650" b="0">
                <a:solidFill>
                  <a:srgbClr val="5B6B7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B6B73"/>
                </a:solidFill>
              </a:defRPr>
            </a:pPr>
            <a:r>
              <a:rPr sz="1650" b="0">
                <a:solidFill>
                  <a:srgbClr val="5B6B73"/>
                </a:solidFill>
              </a:rPr>
              <a:t>One global additive margin; empirical test coverage is descriptive, not a guarantee.</a:t>
            </a:r>
          </a:p>
        </p:txBody>
      </p:sp>
    </p:spTree>
    <p:extLst>
      <p:ext uri="{BB962C8B-B14F-4D97-AF65-F5344CB8AC3E}">
        <p14:creationId xmlns:p14="http://schemas.microsoft.com/office/powerpoint/2010/main" val="6333655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3B2B5-22BC-4C78-B87B-89DE4095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324F"/>
                </a:solidFill>
              </a:defRPr>
            </a:defPPr>
            <a:lvl1pPr>
              <a:defRPr sz="3300" b="1">
                <a:solidFill>
                  <a:srgbClr val="16324F"/>
                </a:solidFill>
              </a:defRPr>
            </a:lvl1pPr>
            <a:lvl2pPr>
              <a:defRPr sz="3300" b="1">
                <a:solidFill>
                  <a:srgbClr val="16324F"/>
                </a:solidFill>
              </a:defRPr>
            </a:lvl2pPr>
            <a:lvl3pPr>
              <a:defRPr sz="3300" b="1">
                <a:solidFill>
                  <a:srgbClr val="16324F"/>
                </a:solidFill>
              </a:defRPr>
            </a:lvl3pPr>
            <a:lvl4pPr>
              <a:defRPr sz="3300" b="1">
                <a:solidFill>
                  <a:srgbClr val="16324F"/>
                </a:solidFill>
              </a:defRPr>
            </a:lvl4pPr>
            <a:lvl5pPr>
              <a:defRPr sz="3300" b="1">
                <a:solidFill>
                  <a:srgbClr val="16324F"/>
                </a:solidFill>
              </a:defRPr>
            </a:lvl5pPr>
            <a:lvl6pPr>
              <a:defRPr sz="3300" b="1">
                <a:solidFill>
                  <a:srgbClr val="16324F"/>
                </a:solidFill>
              </a:defRPr>
            </a:lvl6pPr>
            <a:lvl7pPr>
              <a:defRPr sz="3300" b="1">
                <a:solidFill>
                  <a:srgbClr val="16324F"/>
                </a:solidFill>
              </a:defRPr>
            </a:lvl7pPr>
            <a:lvl8pPr>
              <a:defRPr sz="3300" b="1">
                <a:solidFill>
                  <a:srgbClr val="16324F"/>
                </a:solidFill>
              </a:defRPr>
            </a:lvl8pPr>
            <a:lvl9pPr>
              <a:defRPr sz="33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</a:defRPr>
            </a:pPr>
            <a:r>
              <a:rPr sz="3300" b="1">
                <a:solidFill>
                  <a:srgbClr val="16324F"/>
                </a:solidFill>
              </a:rPr>
              <a:t>Dispatch policies and tie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E5E15-C45D-443E-B581-ABEA716C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1FC62-2F88-4178-8365-8894AF15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D6A8A"/>
                </a:solidFill>
              </a:defRPr>
            </a:defPPr>
            <a:lvl1pPr>
              <a:defRPr sz="2250" b="1">
                <a:solidFill>
                  <a:srgbClr val="2D6A8A"/>
                </a:solidFill>
              </a:defRPr>
            </a:lvl1pPr>
            <a:lvl2pPr>
              <a:defRPr sz="2250" b="1">
                <a:solidFill>
                  <a:srgbClr val="2D6A8A"/>
                </a:solidFill>
              </a:defRPr>
            </a:lvl2pPr>
            <a:lvl3pPr>
              <a:defRPr sz="2250" b="1">
                <a:solidFill>
                  <a:srgbClr val="2D6A8A"/>
                </a:solidFill>
              </a:defRPr>
            </a:lvl3pPr>
            <a:lvl4pPr>
              <a:defRPr sz="2250" b="1">
                <a:solidFill>
                  <a:srgbClr val="2D6A8A"/>
                </a:solidFill>
              </a:defRPr>
            </a:lvl4pPr>
            <a:lvl5pPr>
              <a:defRPr sz="2250" b="1">
                <a:solidFill>
                  <a:srgbClr val="2D6A8A"/>
                </a:solidFill>
              </a:defRPr>
            </a:lvl5pPr>
            <a:lvl6pPr>
              <a:defRPr sz="2250" b="1">
                <a:solidFill>
                  <a:srgbClr val="2D6A8A"/>
                </a:solidFill>
              </a:defRPr>
            </a:lvl6pPr>
            <a:lvl7pPr>
              <a:defRPr sz="2250" b="1">
                <a:solidFill>
                  <a:srgbClr val="2D6A8A"/>
                </a:solidFill>
              </a:defRPr>
            </a:lvl7pPr>
            <a:lvl8pPr>
              <a:defRPr sz="2250" b="1">
                <a:solidFill>
                  <a:srgbClr val="2D6A8A"/>
                </a:solidFill>
              </a:defRPr>
            </a:lvl8pPr>
            <a:lvl9pPr>
              <a:defRPr sz="2250" b="1">
                <a:solidFill>
                  <a:srgbClr val="2D6A8A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D6A8A"/>
                </a:solidFill>
              </a:defRPr>
            </a:pPr>
            <a:r>
              <a:rPr sz="2250" b="1">
                <a:solidFill>
                  <a:srgbClr val="2D6A8A"/>
                </a:solidFill>
              </a:rPr>
              <a:t>Baselines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10246-E356-4206-BF35-6AE570AE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810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FCFS: arrival time → request ID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SJF predicted: RF runtime → arrival → ID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SJF actual: actual runtime oracle → arrival → ID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EDF: absolute deadline → arrival →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3994C-0372-4AA7-9A6D-409820B2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192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A9D8F"/>
                </a:solidFill>
              </a:defRPr>
            </a:defPPr>
            <a:lvl1pPr>
              <a:defRPr sz="2250" b="1">
                <a:solidFill>
                  <a:srgbClr val="2A9D8F"/>
                </a:solidFill>
              </a:defRPr>
            </a:lvl1pPr>
            <a:lvl2pPr>
              <a:defRPr sz="2250" b="1">
                <a:solidFill>
                  <a:srgbClr val="2A9D8F"/>
                </a:solidFill>
              </a:defRPr>
            </a:lvl2pPr>
            <a:lvl3pPr>
              <a:defRPr sz="2250" b="1">
                <a:solidFill>
                  <a:srgbClr val="2A9D8F"/>
                </a:solidFill>
              </a:defRPr>
            </a:lvl3pPr>
            <a:lvl4pPr>
              <a:defRPr sz="2250" b="1">
                <a:solidFill>
                  <a:srgbClr val="2A9D8F"/>
                </a:solidFill>
              </a:defRPr>
            </a:lvl4pPr>
            <a:lvl5pPr>
              <a:defRPr sz="2250" b="1">
                <a:solidFill>
                  <a:srgbClr val="2A9D8F"/>
                </a:solidFill>
              </a:defRPr>
            </a:lvl5pPr>
            <a:lvl6pPr>
              <a:defRPr sz="2250" b="1">
                <a:solidFill>
                  <a:srgbClr val="2A9D8F"/>
                </a:solidFill>
              </a:defRPr>
            </a:lvl6pPr>
            <a:lvl7pPr>
              <a:defRPr sz="2250" b="1">
                <a:solidFill>
                  <a:srgbClr val="2A9D8F"/>
                </a:solidFill>
              </a:defRPr>
            </a:lvl7pPr>
            <a:lvl8pPr>
              <a:defRPr sz="2250" b="1">
                <a:solidFill>
                  <a:srgbClr val="2A9D8F"/>
                </a:solidFill>
              </a:defRPr>
            </a:lvl8pPr>
            <a:lvl9pPr>
              <a:defRPr sz="2250" b="1">
                <a:solidFill>
                  <a:srgbClr val="2A9D8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A9D8F"/>
                </a:solidFill>
              </a:defRPr>
            </a:pPr>
            <a:r>
              <a:rPr sz="2250" b="1">
                <a:solidFill>
                  <a:srgbClr val="2A9D8F"/>
                </a:solidFill>
              </a:rPr>
              <a:t>Deadline and uncertainty variants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E4FB0-2918-44C2-9B96-E09D2F90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51435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72B3A"/>
                </a:solidFill>
              </a:defRPr>
            </a:defPPr>
            <a:lvl1pPr>
              <a:defRPr sz="1725" b="0">
                <a:solidFill>
                  <a:srgbClr val="172B3A"/>
                </a:solidFill>
              </a:defRPr>
            </a:lvl1pPr>
            <a:lvl2pPr>
              <a:defRPr sz="1725" b="0">
                <a:solidFill>
                  <a:srgbClr val="172B3A"/>
                </a:solidFill>
              </a:defRPr>
            </a:lvl2pPr>
            <a:lvl3pPr>
              <a:defRPr sz="1725" b="0">
                <a:solidFill>
                  <a:srgbClr val="172B3A"/>
                </a:solidFill>
              </a:defRPr>
            </a:lvl3pPr>
            <a:lvl4pPr>
              <a:defRPr sz="1725" b="0">
                <a:solidFill>
                  <a:srgbClr val="172B3A"/>
                </a:solidFill>
              </a:defRPr>
            </a:lvl4pPr>
            <a:lvl5pPr>
              <a:defRPr sz="1725" b="0">
                <a:solidFill>
                  <a:srgbClr val="172B3A"/>
                </a:solidFill>
              </a:defRPr>
            </a:lvl5pPr>
            <a:lvl6pPr>
              <a:defRPr sz="1725" b="0">
                <a:solidFill>
                  <a:srgbClr val="172B3A"/>
                </a:solidFill>
              </a:defRPr>
            </a:lvl6pPr>
            <a:lvl7pPr>
              <a:defRPr sz="1725" b="0">
                <a:solidFill>
                  <a:srgbClr val="172B3A"/>
                </a:solidFill>
              </a:defRPr>
            </a:lvl7pPr>
            <a:lvl8pPr>
              <a:defRPr sz="1725" b="0">
                <a:solidFill>
                  <a:srgbClr val="172B3A"/>
                </a:solidFill>
              </a:defRPr>
            </a:lvl8pPr>
            <a:lvl9pPr>
              <a:defRPr sz="17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Deadline-aware: feasible tasks by least slack; infeasible tasks afterward by deadline</a:t>
            </a:r>
          </a:p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Uncertainty-aware: shortest upper runtime first</a:t>
            </a:r>
          </a:p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Proposed: conservative slack, then deadline/runtime/arrival/ID</a:t>
            </a:r>
          </a:p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No deadline: follows deadline-bearing work under slack policies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36C8C-C207-4AD4-8973-64D57B76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C45B43"/>
                </a:solidFill>
              </a:defRPr>
            </a:defPPr>
            <a:lvl1pPr>
              <a:defRPr sz="1650" b="1">
                <a:solidFill>
                  <a:srgbClr val="C45B43"/>
                </a:solidFill>
              </a:defRPr>
            </a:lvl1pPr>
            <a:lvl2pPr>
              <a:defRPr sz="1650" b="1">
                <a:solidFill>
                  <a:srgbClr val="C45B43"/>
                </a:solidFill>
              </a:defRPr>
            </a:lvl2pPr>
            <a:lvl3pPr>
              <a:defRPr sz="1650" b="1">
                <a:solidFill>
                  <a:srgbClr val="C45B43"/>
                </a:solidFill>
              </a:defRPr>
            </a:lvl3pPr>
            <a:lvl4pPr>
              <a:defRPr sz="1650" b="1">
                <a:solidFill>
                  <a:srgbClr val="C45B43"/>
                </a:solidFill>
              </a:defRPr>
            </a:lvl4pPr>
            <a:lvl5pPr>
              <a:defRPr sz="1650" b="1">
                <a:solidFill>
                  <a:srgbClr val="C45B43"/>
                </a:solidFill>
              </a:defRPr>
            </a:lvl5pPr>
            <a:lvl6pPr>
              <a:defRPr sz="1650" b="1">
                <a:solidFill>
                  <a:srgbClr val="C45B43"/>
                </a:solidFill>
              </a:defRPr>
            </a:lvl6pPr>
            <a:lvl7pPr>
              <a:defRPr sz="1650" b="1">
                <a:solidFill>
                  <a:srgbClr val="C45B43"/>
                </a:solidFill>
              </a:defRPr>
            </a:lvl7pPr>
            <a:lvl8pPr>
              <a:defRPr sz="1650" b="1">
                <a:solidFill>
                  <a:srgbClr val="C45B43"/>
                </a:solidFill>
              </a:defRPr>
            </a:lvl8pPr>
            <a:lvl9pPr>
              <a:defRPr sz="1650" b="1">
                <a:solidFill>
                  <a:srgbClr val="C45B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45B43"/>
                </a:solidFill>
              </a:defRPr>
            </a:pPr>
            <a:r>
              <a:rPr sz="1650" b="1">
                <a:solidFill>
                  <a:srgbClr val="C45B43"/>
                </a:solidFill>
              </a:rPr>
              <a:t>Non-preemptive priority heuristic. Running tasks continue; no policy guarantees that all deadlines can be met.</a:t>
            </a:r>
          </a:p>
        </p:txBody>
      </p:sp>
    </p:spTree>
    <p:extLst>
      <p:ext uri="{BB962C8B-B14F-4D97-AF65-F5344CB8AC3E}">
        <p14:creationId xmlns:p14="http://schemas.microsoft.com/office/powerpoint/2010/main" val="11296750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8E95C-2692-4F86-8BBD-8AD929A1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324F"/>
                </a:solidFill>
              </a:defRPr>
            </a:defPPr>
            <a:lvl1pPr>
              <a:defRPr sz="3300" b="1">
                <a:solidFill>
                  <a:srgbClr val="16324F"/>
                </a:solidFill>
              </a:defRPr>
            </a:lvl1pPr>
            <a:lvl2pPr>
              <a:defRPr sz="3300" b="1">
                <a:solidFill>
                  <a:srgbClr val="16324F"/>
                </a:solidFill>
              </a:defRPr>
            </a:lvl2pPr>
            <a:lvl3pPr>
              <a:defRPr sz="3300" b="1">
                <a:solidFill>
                  <a:srgbClr val="16324F"/>
                </a:solidFill>
              </a:defRPr>
            </a:lvl3pPr>
            <a:lvl4pPr>
              <a:defRPr sz="3300" b="1">
                <a:solidFill>
                  <a:srgbClr val="16324F"/>
                </a:solidFill>
              </a:defRPr>
            </a:lvl4pPr>
            <a:lvl5pPr>
              <a:defRPr sz="3300" b="1">
                <a:solidFill>
                  <a:srgbClr val="16324F"/>
                </a:solidFill>
              </a:defRPr>
            </a:lvl5pPr>
            <a:lvl6pPr>
              <a:defRPr sz="3300" b="1">
                <a:solidFill>
                  <a:srgbClr val="16324F"/>
                </a:solidFill>
              </a:defRPr>
            </a:lvl6pPr>
            <a:lvl7pPr>
              <a:defRPr sz="3300" b="1">
                <a:solidFill>
                  <a:srgbClr val="16324F"/>
                </a:solidFill>
              </a:defRPr>
            </a:lvl7pPr>
            <a:lvl8pPr>
              <a:defRPr sz="3300" b="1">
                <a:solidFill>
                  <a:srgbClr val="16324F"/>
                </a:solidFill>
              </a:defRPr>
            </a:lvl8pPr>
            <a:lvl9pPr>
              <a:defRPr sz="33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</a:defRPr>
            </a:pPr>
            <a:r>
              <a:rPr sz="3300" b="1">
                <a:solidFill>
                  <a:srgbClr val="16324F"/>
                </a:solidFill>
              </a:rPr>
              <a:t>Benchmark design and measures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B5AAE-22AA-4BB7-8BCB-A7858FAF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85BF7-55EA-4AD9-95ED-3CDF5D34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D6A8A"/>
                </a:solidFill>
              </a:defRPr>
            </a:defPPr>
            <a:lvl1pPr>
              <a:defRPr sz="2250" b="1">
                <a:solidFill>
                  <a:srgbClr val="2D6A8A"/>
                </a:solidFill>
              </a:defRPr>
            </a:lvl1pPr>
            <a:lvl2pPr>
              <a:defRPr sz="2250" b="1">
                <a:solidFill>
                  <a:srgbClr val="2D6A8A"/>
                </a:solidFill>
              </a:defRPr>
            </a:lvl2pPr>
            <a:lvl3pPr>
              <a:defRPr sz="2250" b="1">
                <a:solidFill>
                  <a:srgbClr val="2D6A8A"/>
                </a:solidFill>
              </a:defRPr>
            </a:lvl3pPr>
            <a:lvl4pPr>
              <a:defRPr sz="2250" b="1">
                <a:solidFill>
                  <a:srgbClr val="2D6A8A"/>
                </a:solidFill>
              </a:defRPr>
            </a:lvl4pPr>
            <a:lvl5pPr>
              <a:defRPr sz="2250" b="1">
                <a:solidFill>
                  <a:srgbClr val="2D6A8A"/>
                </a:solidFill>
              </a:defRPr>
            </a:lvl5pPr>
            <a:lvl6pPr>
              <a:defRPr sz="2250" b="1">
                <a:solidFill>
                  <a:srgbClr val="2D6A8A"/>
                </a:solidFill>
              </a:defRPr>
            </a:lvl6pPr>
            <a:lvl7pPr>
              <a:defRPr sz="2250" b="1">
                <a:solidFill>
                  <a:srgbClr val="2D6A8A"/>
                </a:solidFill>
              </a:defRPr>
            </a:lvl7pPr>
            <a:lvl8pPr>
              <a:defRPr sz="2250" b="1">
                <a:solidFill>
                  <a:srgbClr val="2D6A8A"/>
                </a:solidFill>
              </a:defRPr>
            </a:lvl8pPr>
            <a:lvl9pPr>
              <a:defRPr sz="2250" b="1">
                <a:solidFill>
                  <a:srgbClr val="2D6A8A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D6A8A"/>
                </a:solidFill>
              </a:defRPr>
            </a:pPr>
            <a:r>
              <a:rPr sz="2250" b="1">
                <a:solidFill>
                  <a:srgbClr val="2D6A8A"/>
                </a:solidFill>
              </a:rPr>
              <a:t>Workload factors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E66F3-F66C-493A-9341-55034F9F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667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Load: low / medium / high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Task duration: short / medium / long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Deadlines: tight / relaxed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Arrivals: steady / bursty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Synthetic RF target noise: low / high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2FC2B-940E-423F-B77D-4B2AC2F0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A9D8F"/>
                </a:solidFill>
              </a:defRPr>
            </a:defPPr>
            <a:lvl1pPr>
              <a:defRPr sz="2250" b="1">
                <a:solidFill>
                  <a:srgbClr val="2A9D8F"/>
                </a:solidFill>
              </a:defRPr>
            </a:lvl1pPr>
            <a:lvl2pPr>
              <a:defRPr sz="2250" b="1">
                <a:solidFill>
                  <a:srgbClr val="2A9D8F"/>
                </a:solidFill>
              </a:defRPr>
            </a:lvl2pPr>
            <a:lvl3pPr>
              <a:defRPr sz="2250" b="1">
                <a:solidFill>
                  <a:srgbClr val="2A9D8F"/>
                </a:solidFill>
              </a:defRPr>
            </a:lvl3pPr>
            <a:lvl4pPr>
              <a:defRPr sz="2250" b="1">
                <a:solidFill>
                  <a:srgbClr val="2A9D8F"/>
                </a:solidFill>
              </a:defRPr>
            </a:lvl4pPr>
            <a:lvl5pPr>
              <a:defRPr sz="2250" b="1">
                <a:solidFill>
                  <a:srgbClr val="2A9D8F"/>
                </a:solidFill>
              </a:defRPr>
            </a:lvl5pPr>
            <a:lvl6pPr>
              <a:defRPr sz="2250" b="1">
                <a:solidFill>
                  <a:srgbClr val="2A9D8F"/>
                </a:solidFill>
              </a:defRPr>
            </a:lvl6pPr>
            <a:lvl7pPr>
              <a:defRPr sz="2250" b="1">
                <a:solidFill>
                  <a:srgbClr val="2A9D8F"/>
                </a:solidFill>
              </a:defRPr>
            </a:lvl7pPr>
            <a:lvl8pPr>
              <a:defRPr sz="2250" b="1">
                <a:solidFill>
                  <a:srgbClr val="2A9D8F"/>
                </a:solidFill>
              </a:defRPr>
            </a:lvl8pPr>
            <a:lvl9pPr>
              <a:defRPr sz="2250" b="1">
                <a:solidFill>
                  <a:srgbClr val="2A9D8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A9D8F"/>
                </a:solidFill>
              </a:defRPr>
            </a:pPr>
            <a:r>
              <a:rPr sz="2250" b="1">
                <a:solidFill>
                  <a:srgbClr val="2A9D8F"/>
                </a:solidFill>
              </a:rPr>
              <a:t>Recorded measures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CD404-330F-4561-A9C9-1C5277C2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143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Deadline miss rate and response latency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P95 / P99, waiting time, throughput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Time-weighted processing queue length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Busy service time / active VM time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Simulated VM-hours, RF MAE / RMSE, test coverage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AA2DE-4F36-4CC2-9D86-7D4E8A1A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B6B73"/>
                </a:solidFill>
              </a:defRPr>
            </a:defPPr>
            <a:lvl1pPr>
              <a:defRPr sz="1650" b="0">
                <a:solidFill>
                  <a:srgbClr val="5B6B73"/>
                </a:solidFill>
              </a:defRPr>
            </a:lvl1pPr>
            <a:lvl2pPr>
              <a:defRPr sz="1650" b="0">
                <a:solidFill>
                  <a:srgbClr val="5B6B73"/>
                </a:solidFill>
              </a:defRPr>
            </a:lvl2pPr>
            <a:lvl3pPr>
              <a:defRPr sz="1650" b="0">
                <a:solidFill>
                  <a:srgbClr val="5B6B73"/>
                </a:solidFill>
              </a:defRPr>
            </a:lvl3pPr>
            <a:lvl4pPr>
              <a:defRPr sz="1650" b="0">
                <a:solidFill>
                  <a:srgbClr val="5B6B73"/>
                </a:solidFill>
              </a:defRPr>
            </a:lvl4pPr>
            <a:lvl5pPr>
              <a:defRPr sz="1650" b="0">
                <a:solidFill>
                  <a:srgbClr val="5B6B73"/>
                </a:solidFill>
              </a:defRPr>
            </a:lvl5pPr>
            <a:lvl6pPr>
              <a:defRPr sz="1650" b="0">
                <a:solidFill>
                  <a:srgbClr val="5B6B73"/>
                </a:solidFill>
              </a:defRPr>
            </a:lvl6pPr>
            <a:lvl7pPr>
              <a:defRPr sz="1650" b="0">
                <a:solidFill>
                  <a:srgbClr val="5B6B73"/>
                </a:solidFill>
              </a:defRPr>
            </a:lvl7pPr>
            <a:lvl8pPr>
              <a:defRPr sz="1650" b="0">
                <a:solidFill>
                  <a:srgbClr val="5B6B73"/>
                </a:solidFill>
              </a:defRPr>
            </a:lvl8pPr>
            <a:lvl9pPr>
              <a:defRPr sz="1650" b="0">
                <a:solidFill>
                  <a:srgbClr val="5B6B7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B6B73"/>
                </a:solidFill>
              </a:defRPr>
            </a:pPr>
            <a:r>
              <a:rPr sz="1650" b="0">
                <a:solidFill>
                  <a:srgbClr val="5B6B73"/>
                </a:solidFill>
              </a:rPr>
              <a:t>Paired seeds across seven dispatchers; fixed capacity for policy comparisons. Full grid: 72 workload cases, or 504 runs per repeat.</a:t>
            </a:r>
          </a:p>
        </p:txBody>
      </p:sp>
    </p:spTree>
    <p:extLst>
      <p:ext uri="{BB962C8B-B14F-4D97-AF65-F5344CB8AC3E}">
        <p14:creationId xmlns:p14="http://schemas.microsoft.com/office/powerpoint/2010/main" val="1238560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84F7B-7EDF-4815-AFAD-61B04064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324F"/>
                </a:solidFill>
              </a:defRPr>
            </a:defPPr>
            <a:lvl1pPr>
              <a:defRPr sz="3300" b="1">
                <a:solidFill>
                  <a:srgbClr val="16324F"/>
                </a:solidFill>
              </a:defRPr>
            </a:lvl1pPr>
            <a:lvl2pPr>
              <a:defRPr sz="3300" b="1">
                <a:solidFill>
                  <a:srgbClr val="16324F"/>
                </a:solidFill>
              </a:defRPr>
            </a:lvl2pPr>
            <a:lvl3pPr>
              <a:defRPr sz="3300" b="1">
                <a:solidFill>
                  <a:srgbClr val="16324F"/>
                </a:solidFill>
              </a:defRPr>
            </a:lvl3pPr>
            <a:lvl4pPr>
              <a:defRPr sz="3300" b="1">
                <a:solidFill>
                  <a:srgbClr val="16324F"/>
                </a:solidFill>
              </a:defRPr>
            </a:lvl4pPr>
            <a:lvl5pPr>
              <a:defRPr sz="3300" b="1">
                <a:solidFill>
                  <a:srgbClr val="16324F"/>
                </a:solidFill>
              </a:defRPr>
            </a:lvl5pPr>
            <a:lvl6pPr>
              <a:defRPr sz="3300" b="1">
                <a:solidFill>
                  <a:srgbClr val="16324F"/>
                </a:solidFill>
              </a:defRPr>
            </a:lvl6pPr>
            <a:lvl7pPr>
              <a:defRPr sz="3300" b="1">
                <a:solidFill>
                  <a:srgbClr val="16324F"/>
                </a:solidFill>
              </a:defRPr>
            </a:lvl7pPr>
            <a:lvl8pPr>
              <a:defRPr sz="3300" b="1">
                <a:solidFill>
                  <a:srgbClr val="16324F"/>
                </a:solidFill>
              </a:defRPr>
            </a:lvl8pPr>
            <a:lvl9pPr>
              <a:defRPr sz="33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</a:defRPr>
            </a:pPr>
            <a:r>
              <a:rPr sz="3300" b="1">
                <a:solidFill>
                  <a:srgbClr val="16324F"/>
                </a:solidFill>
              </a:rPr>
              <a:t>Full-grid results: measured means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65FC5-931F-4EC2-AC53-FFF83887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DC"/>
            </a:solidFill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37CCB-CC26-4287-A0E7-78EB76EB79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52c5ce61d4548"/>
          <a:stretch xmlns:a="http://schemas.openxmlformats.org/drawingml/2006/main"/>
        </p:blipFill>
        <p:spPr>
          <a:xfrm xmlns:a="http://schemas.openxmlformats.org/drawingml/2006/main">
            <a:off x="590550" y="1622227"/>
            <a:ext cx="10953750" cy="342304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D91D5-CD92-4D9A-91D9-D4C030C8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C45B43"/>
                </a:solidFill>
              </a:defRPr>
            </a:defPPr>
            <a:lvl1pPr>
              <a:defRPr sz="1575" b="1">
                <a:solidFill>
                  <a:srgbClr val="C45B43"/>
                </a:solidFill>
              </a:defRPr>
            </a:lvl1pPr>
            <a:lvl2pPr>
              <a:defRPr sz="1575" b="1">
                <a:solidFill>
                  <a:srgbClr val="C45B43"/>
                </a:solidFill>
              </a:defRPr>
            </a:lvl2pPr>
            <a:lvl3pPr>
              <a:defRPr sz="1575" b="1">
                <a:solidFill>
                  <a:srgbClr val="C45B43"/>
                </a:solidFill>
              </a:defRPr>
            </a:lvl3pPr>
            <a:lvl4pPr>
              <a:defRPr sz="1575" b="1">
                <a:solidFill>
                  <a:srgbClr val="C45B43"/>
                </a:solidFill>
              </a:defRPr>
            </a:lvl4pPr>
            <a:lvl5pPr>
              <a:defRPr sz="1575" b="1">
                <a:solidFill>
                  <a:srgbClr val="C45B43"/>
                </a:solidFill>
              </a:defRPr>
            </a:lvl5pPr>
            <a:lvl6pPr>
              <a:defRPr sz="1575" b="1">
                <a:solidFill>
                  <a:srgbClr val="C45B43"/>
                </a:solidFill>
              </a:defRPr>
            </a:lvl6pPr>
            <a:lvl7pPr>
              <a:defRPr sz="1575" b="1">
                <a:solidFill>
                  <a:srgbClr val="C45B43"/>
                </a:solidFill>
              </a:defRPr>
            </a:lvl7pPr>
            <a:lvl8pPr>
              <a:defRPr sz="1575" b="1">
                <a:solidFill>
                  <a:srgbClr val="C45B43"/>
                </a:solidFill>
              </a:defRPr>
            </a:lvl8pPr>
            <a:lvl9pPr>
              <a:defRPr sz="1575" b="1">
                <a:solidFill>
                  <a:srgbClr val="C45B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C45B43"/>
                </a:solidFill>
              </a:defRPr>
            </a:pPr>
            <a:r>
              <a:rPr sz="1575" b="1">
                <a:solidFill>
                  <a:srgbClr val="C45B43"/>
                </a:solidFill>
              </a:rPr>
              <a:t>1,008 runs • 25 tasks per run • 72 cases • 2 seeds per case • means are descriptive</a:t>
            </a:r>
          </a:p>
        </p:txBody>
      </p:sp>
    </p:spTree>
    <p:extLst>
      <p:ext uri="{BB962C8B-B14F-4D97-AF65-F5344CB8AC3E}">
        <p14:creationId xmlns:p14="http://schemas.microsoft.com/office/powerpoint/2010/main" val="17671385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BF685-E4FF-4754-B503-AB4FC32E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324F"/>
                </a:solidFill>
              </a:defRPr>
            </a:defPPr>
            <a:lvl1pPr>
              <a:defRPr sz="3300" b="1">
                <a:solidFill>
                  <a:srgbClr val="16324F"/>
                </a:solidFill>
              </a:defRPr>
            </a:lvl1pPr>
            <a:lvl2pPr>
              <a:defRPr sz="3300" b="1">
                <a:solidFill>
                  <a:srgbClr val="16324F"/>
                </a:solidFill>
              </a:defRPr>
            </a:lvl2pPr>
            <a:lvl3pPr>
              <a:defRPr sz="3300" b="1">
                <a:solidFill>
                  <a:srgbClr val="16324F"/>
                </a:solidFill>
              </a:defRPr>
            </a:lvl3pPr>
            <a:lvl4pPr>
              <a:defRPr sz="3300" b="1">
                <a:solidFill>
                  <a:srgbClr val="16324F"/>
                </a:solidFill>
              </a:defRPr>
            </a:lvl4pPr>
            <a:lvl5pPr>
              <a:defRPr sz="3300" b="1">
                <a:solidFill>
                  <a:srgbClr val="16324F"/>
                </a:solidFill>
              </a:defRPr>
            </a:lvl5pPr>
            <a:lvl6pPr>
              <a:defRPr sz="3300" b="1">
                <a:solidFill>
                  <a:srgbClr val="16324F"/>
                </a:solidFill>
              </a:defRPr>
            </a:lvl6pPr>
            <a:lvl7pPr>
              <a:defRPr sz="3300" b="1">
                <a:solidFill>
                  <a:srgbClr val="16324F"/>
                </a:solidFill>
              </a:defRPr>
            </a:lvl7pPr>
            <a:lvl8pPr>
              <a:defRPr sz="3300" b="1">
                <a:solidFill>
                  <a:srgbClr val="16324F"/>
                </a:solidFill>
              </a:defRPr>
            </a:lvl8pPr>
            <a:lvl9pPr>
              <a:defRPr sz="33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</a:defRPr>
            </a:pPr>
            <a:r>
              <a:rPr sz="3300" b="1">
                <a:solidFill>
                  <a:srgbClr val="16324F"/>
                </a:solidFill>
              </a:rPr>
              <a:t>Measured findings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396F4-6707-4C44-9F2F-A183477B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12F7C-395D-4C74-B5F7-DDF0F53E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D6A8A"/>
                </a:solidFill>
              </a:defRPr>
            </a:defPPr>
            <a:lvl1pPr>
              <a:defRPr sz="2250" b="1">
                <a:solidFill>
                  <a:srgbClr val="2D6A8A"/>
                </a:solidFill>
              </a:defRPr>
            </a:lvl1pPr>
            <a:lvl2pPr>
              <a:defRPr sz="2250" b="1">
                <a:solidFill>
                  <a:srgbClr val="2D6A8A"/>
                </a:solidFill>
              </a:defRPr>
            </a:lvl2pPr>
            <a:lvl3pPr>
              <a:defRPr sz="2250" b="1">
                <a:solidFill>
                  <a:srgbClr val="2D6A8A"/>
                </a:solidFill>
              </a:defRPr>
            </a:lvl3pPr>
            <a:lvl4pPr>
              <a:defRPr sz="2250" b="1">
                <a:solidFill>
                  <a:srgbClr val="2D6A8A"/>
                </a:solidFill>
              </a:defRPr>
            </a:lvl4pPr>
            <a:lvl5pPr>
              <a:defRPr sz="2250" b="1">
                <a:solidFill>
                  <a:srgbClr val="2D6A8A"/>
                </a:solidFill>
              </a:defRPr>
            </a:lvl5pPr>
            <a:lvl6pPr>
              <a:defRPr sz="2250" b="1">
                <a:solidFill>
                  <a:srgbClr val="2D6A8A"/>
                </a:solidFill>
              </a:defRPr>
            </a:lvl6pPr>
            <a:lvl7pPr>
              <a:defRPr sz="2250" b="1">
                <a:solidFill>
                  <a:srgbClr val="2D6A8A"/>
                </a:solidFill>
              </a:defRPr>
            </a:lvl7pPr>
            <a:lvl8pPr>
              <a:defRPr sz="2250" b="1">
                <a:solidFill>
                  <a:srgbClr val="2D6A8A"/>
                </a:solidFill>
              </a:defRPr>
            </a:lvl8pPr>
            <a:lvl9pPr>
              <a:defRPr sz="2250" b="1">
                <a:solidFill>
                  <a:srgbClr val="2D6A8A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D6A8A"/>
                </a:solidFill>
              </a:defRPr>
            </a:pPr>
            <a:r>
              <a:rPr sz="2250" b="1">
                <a:solidFill>
                  <a:srgbClr val="2D6A8A"/>
                </a:solidFill>
              </a:rPr>
              <a:t>Measured across the full grid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61C36-4A79-4F56-B598-BD6DCA64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Per policy: 144 runs × 25 tasks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RF test MAE: 0.907 s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RF test RMSE: 1.383 s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Upper-runtime coverage: 95.9%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Proposed late rate: 8.5%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FCFS late rate: 10.1%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2E5F0-6FB7-44BB-83F7-BD682E15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C45B43"/>
                </a:solidFill>
              </a:defRPr>
            </a:defPPr>
            <a:lvl1pPr>
              <a:defRPr sz="2250" b="1">
                <a:solidFill>
                  <a:srgbClr val="C45B43"/>
                </a:solidFill>
              </a:defRPr>
            </a:lvl1pPr>
            <a:lvl2pPr>
              <a:defRPr sz="2250" b="1">
                <a:solidFill>
                  <a:srgbClr val="C45B43"/>
                </a:solidFill>
              </a:defRPr>
            </a:lvl2pPr>
            <a:lvl3pPr>
              <a:defRPr sz="2250" b="1">
                <a:solidFill>
                  <a:srgbClr val="C45B43"/>
                </a:solidFill>
              </a:defRPr>
            </a:lvl3pPr>
            <a:lvl4pPr>
              <a:defRPr sz="2250" b="1">
                <a:solidFill>
                  <a:srgbClr val="C45B43"/>
                </a:solidFill>
              </a:defRPr>
            </a:lvl4pPr>
            <a:lvl5pPr>
              <a:defRPr sz="2250" b="1">
                <a:solidFill>
                  <a:srgbClr val="C45B43"/>
                </a:solidFill>
              </a:defRPr>
            </a:lvl5pPr>
            <a:lvl6pPr>
              <a:defRPr sz="2250" b="1">
                <a:solidFill>
                  <a:srgbClr val="C45B43"/>
                </a:solidFill>
              </a:defRPr>
            </a:lvl6pPr>
            <a:lvl7pPr>
              <a:defRPr sz="2250" b="1">
                <a:solidFill>
                  <a:srgbClr val="C45B43"/>
                </a:solidFill>
              </a:defRPr>
            </a:lvl7pPr>
            <a:lvl8pPr>
              <a:defRPr sz="2250" b="1">
                <a:solidFill>
                  <a:srgbClr val="C45B43"/>
                </a:solidFill>
              </a:defRPr>
            </a:lvl8pPr>
            <a:lvl9pPr>
              <a:defRPr sz="2250" b="1">
                <a:solidFill>
                  <a:srgbClr val="C45B43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C45B43"/>
                </a:solidFill>
              </a:defRPr>
            </a:pPr>
            <a:r>
              <a:rPr sz="2250" b="1">
                <a:solidFill>
                  <a:srgbClr val="C45B43"/>
                </a:solidFill>
              </a:rPr>
              <a:t>Interpretation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DEF29-D5E9-4E55-A126-7DDD1EDE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25 tasks per simulation; two seeds per case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Global residual offset is not task-specific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All workloads remain synthetic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Queue wait omits remaining work in service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VM-hours are not a provider bill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FC798-7604-46CF-B56E-2F08DC5C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6324F"/>
                </a:solidFill>
              </a:defRPr>
            </a:defPPr>
            <a:lvl1pPr>
              <a:defRPr sz="2025" b="1">
                <a:solidFill>
                  <a:srgbClr val="16324F"/>
                </a:solidFill>
              </a:defRPr>
            </a:lvl1pPr>
            <a:lvl2pPr>
              <a:defRPr sz="2025" b="1">
                <a:solidFill>
                  <a:srgbClr val="16324F"/>
                </a:solidFill>
              </a:defRPr>
            </a:lvl2pPr>
            <a:lvl3pPr>
              <a:defRPr sz="2025" b="1">
                <a:solidFill>
                  <a:srgbClr val="16324F"/>
                </a:solidFill>
              </a:defRPr>
            </a:lvl3pPr>
            <a:lvl4pPr>
              <a:defRPr sz="2025" b="1">
                <a:solidFill>
                  <a:srgbClr val="16324F"/>
                </a:solidFill>
              </a:defRPr>
            </a:lvl4pPr>
            <a:lvl5pPr>
              <a:defRPr sz="2025" b="1">
                <a:solidFill>
                  <a:srgbClr val="16324F"/>
                </a:solidFill>
              </a:defRPr>
            </a:lvl5pPr>
            <a:lvl6pPr>
              <a:defRPr sz="2025" b="1">
                <a:solidFill>
                  <a:srgbClr val="16324F"/>
                </a:solidFill>
              </a:defRPr>
            </a:lvl6pPr>
            <a:lvl7pPr>
              <a:defRPr sz="2025" b="1">
                <a:solidFill>
                  <a:srgbClr val="16324F"/>
                </a:solidFill>
              </a:defRPr>
            </a:lvl7pPr>
            <a:lvl8pPr>
              <a:defRPr sz="2025" b="1">
                <a:solidFill>
                  <a:srgbClr val="16324F"/>
                </a:solidFill>
              </a:defRPr>
            </a:lvl8pPr>
            <a:lvl9pPr>
              <a:defRPr sz="20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324F"/>
                </a:solidFill>
              </a:defRPr>
            </a:pPr>
            <a:r>
              <a:rPr sz="2025" b="1">
                <a:solidFill>
                  <a:srgbClr val="16324F"/>
                </a:solidFill>
              </a:rPr>
              <a:t>These measurements do not establish improvement or novelty.</a:t>
            </a:r>
          </a:p>
        </p:txBody>
      </p:sp>
    </p:spTree>
    <p:extLst>
      <p:ext uri="{BB962C8B-B14F-4D97-AF65-F5344CB8AC3E}">
        <p14:creationId xmlns:p14="http://schemas.microsoft.com/office/powerpoint/2010/main" val="17271148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8F47E-8C91-4A96-AB60-3630D35A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324F"/>
                </a:solidFill>
              </a:defRPr>
            </a:defPPr>
            <a:lvl1pPr>
              <a:defRPr sz="3300" b="1">
                <a:solidFill>
                  <a:srgbClr val="16324F"/>
                </a:solidFill>
              </a:defRPr>
            </a:lvl1pPr>
            <a:lvl2pPr>
              <a:defRPr sz="3300" b="1">
                <a:solidFill>
                  <a:srgbClr val="16324F"/>
                </a:solidFill>
              </a:defRPr>
            </a:lvl2pPr>
            <a:lvl3pPr>
              <a:defRPr sz="3300" b="1">
                <a:solidFill>
                  <a:srgbClr val="16324F"/>
                </a:solidFill>
              </a:defRPr>
            </a:lvl3pPr>
            <a:lvl4pPr>
              <a:defRPr sz="3300" b="1">
                <a:solidFill>
                  <a:srgbClr val="16324F"/>
                </a:solidFill>
              </a:defRPr>
            </a:lvl4pPr>
            <a:lvl5pPr>
              <a:defRPr sz="3300" b="1">
                <a:solidFill>
                  <a:srgbClr val="16324F"/>
                </a:solidFill>
              </a:defRPr>
            </a:lvl5pPr>
            <a:lvl6pPr>
              <a:defRPr sz="3300" b="1">
                <a:solidFill>
                  <a:srgbClr val="16324F"/>
                </a:solidFill>
              </a:defRPr>
            </a:lvl6pPr>
            <a:lvl7pPr>
              <a:defRPr sz="3300" b="1">
                <a:solidFill>
                  <a:srgbClr val="16324F"/>
                </a:solidFill>
              </a:defRPr>
            </a:lvl7pPr>
            <a:lvl8pPr>
              <a:defRPr sz="3300" b="1">
                <a:solidFill>
                  <a:srgbClr val="16324F"/>
                </a:solidFill>
              </a:defRPr>
            </a:lvl8pPr>
            <a:lvl9pPr>
              <a:defRPr sz="33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</a:defRPr>
            </a:pPr>
            <a:r>
              <a:rPr sz="3300" b="1">
                <a:solidFill>
                  <a:srgbClr val="16324F"/>
                </a:solidFill>
              </a:rPr>
              <a:t>Reproduction and research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9D535-9388-4558-926B-931FFD4A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BBE22-A516-416D-BBA5-C126F98B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D6A8A"/>
                </a:solidFill>
              </a:defRPr>
            </a:defPPr>
            <a:lvl1pPr>
              <a:defRPr sz="2250" b="1">
                <a:solidFill>
                  <a:srgbClr val="2D6A8A"/>
                </a:solidFill>
              </a:defRPr>
            </a:lvl1pPr>
            <a:lvl2pPr>
              <a:defRPr sz="2250" b="1">
                <a:solidFill>
                  <a:srgbClr val="2D6A8A"/>
                </a:solidFill>
              </a:defRPr>
            </a:lvl2pPr>
            <a:lvl3pPr>
              <a:defRPr sz="2250" b="1">
                <a:solidFill>
                  <a:srgbClr val="2D6A8A"/>
                </a:solidFill>
              </a:defRPr>
            </a:lvl3pPr>
            <a:lvl4pPr>
              <a:defRPr sz="2250" b="1">
                <a:solidFill>
                  <a:srgbClr val="2D6A8A"/>
                </a:solidFill>
              </a:defRPr>
            </a:lvl4pPr>
            <a:lvl5pPr>
              <a:defRPr sz="2250" b="1">
                <a:solidFill>
                  <a:srgbClr val="2D6A8A"/>
                </a:solidFill>
              </a:defRPr>
            </a:lvl5pPr>
            <a:lvl6pPr>
              <a:defRPr sz="2250" b="1">
                <a:solidFill>
                  <a:srgbClr val="2D6A8A"/>
                </a:solidFill>
              </a:defRPr>
            </a:lvl6pPr>
            <a:lvl7pPr>
              <a:defRPr sz="2250" b="1">
                <a:solidFill>
                  <a:srgbClr val="2D6A8A"/>
                </a:solidFill>
              </a:defRPr>
            </a:lvl7pPr>
            <a:lvl8pPr>
              <a:defRPr sz="2250" b="1">
                <a:solidFill>
                  <a:srgbClr val="2D6A8A"/>
                </a:solidFill>
              </a:defRPr>
            </a:lvl8pPr>
            <a:lvl9pPr>
              <a:defRPr sz="2250" b="1">
                <a:solidFill>
                  <a:srgbClr val="2D6A8A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D6A8A"/>
                </a:solidFill>
              </a:defRPr>
            </a:pPr>
            <a:r>
              <a:rPr sz="2250" b="1">
                <a:solidFill>
                  <a:srgbClr val="2D6A8A"/>
                </a:solidFill>
              </a:rPr>
              <a:t>Run the full benchmark grid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9D5C2-3E96-4817-BF89-C7593F76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C"/>
            </a:solidFill>
            <a:prstDash val="solid"/>
          </a:ln>
        </p:spPr>
        <p:txBody>
          <a:bodyPr xmlns:a="http://schemas.openxmlformats.org/drawingml/2006/main" lIns="133350" tIns="95250" rIns="133350" bIns="76200"/>
          <a:lstStyle xmlns:a="http://schemas.openxmlformats.org/drawingml/2006/main">
            <a:defPPr>
              <a:defRPr sz="1650" b="1">
                <a:solidFill>
                  <a:srgbClr val="16324F"/>
                </a:solidFill>
              </a:defRPr>
            </a:defPPr>
            <a:lvl1pPr>
              <a:defRPr sz="1650" b="1">
                <a:solidFill>
                  <a:srgbClr val="16324F"/>
                </a:solidFill>
              </a:defRPr>
            </a:lvl1pPr>
            <a:lvl2pPr>
              <a:defRPr sz="1650" b="1">
                <a:solidFill>
                  <a:srgbClr val="16324F"/>
                </a:solidFill>
              </a:defRPr>
            </a:lvl2pPr>
            <a:lvl3pPr>
              <a:defRPr sz="1650" b="1">
                <a:solidFill>
                  <a:srgbClr val="16324F"/>
                </a:solidFill>
              </a:defRPr>
            </a:lvl3pPr>
            <a:lvl4pPr>
              <a:defRPr sz="1650" b="1">
                <a:solidFill>
                  <a:srgbClr val="16324F"/>
                </a:solidFill>
              </a:defRPr>
            </a:lvl4pPr>
            <a:lvl5pPr>
              <a:defRPr sz="1650" b="1">
                <a:solidFill>
                  <a:srgbClr val="16324F"/>
                </a:solidFill>
              </a:defRPr>
            </a:lvl5pPr>
            <a:lvl6pPr>
              <a:defRPr sz="1650" b="1">
                <a:solidFill>
                  <a:srgbClr val="16324F"/>
                </a:solidFill>
              </a:defRPr>
            </a:lvl6pPr>
            <a:lvl7pPr>
              <a:defRPr sz="1650" b="1">
                <a:solidFill>
                  <a:srgbClr val="16324F"/>
                </a:solidFill>
              </a:defRPr>
            </a:lvl7pPr>
            <a:lvl8pPr>
              <a:defRPr sz="1650" b="1">
                <a:solidFill>
                  <a:srgbClr val="16324F"/>
                </a:solidFill>
              </a:defRPr>
            </a:lvl8pPr>
            <a:lvl9pPr>
              <a:defRPr sz="16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python simulation/research_benchmark.py</a:t>
            </a:r>
          </a:p>
          <a:p xmlns:a="http://schemas.openxmlformats.org/drawingml/2006/main">
            <a:pPr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--requests 300 --repeats 2</a:t>
            </a:r>
          </a:p>
          <a:p xmlns:a="http://schemas.openxmlformats.org/drawingml/2006/main">
            <a:pPr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--output-dir research_results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8E00A-A27A-4FB5-AC98-1A13FFE7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72B3A"/>
                </a:solidFill>
              </a:defRPr>
            </a:defPPr>
            <a:lvl1pPr>
              <a:defRPr sz="1725" b="0">
                <a:solidFill>
                  <a:srgbClr val="172B3A"/>
                </a:solidFill>
              </a:defRPr>
            </a:lvl1pPr>
            <a:lvl2pPr>
              <a:defRPr sz="1725" b="0">
                <a:solidFill>
                  <a:srgbClr val="172B3A"/>
                </a:solidFill>
              </a:defRPr>
            </a:lvl2pPr>
            <a:lvl3pPr>
              <a:defRPr sz="1725" b="0">
                <a:solidFill>
                  <a:srgbClr val="172B3A"/>
                </a:solidFill>
              </a:defRPr>
            </a:lvl3pPr>
            <a:lvl4pPr>
              <a:defRPr sz="1725" b="0">
                <a:solidFill>
                  <a:srgbClr val="172B3A"/>
                </a:solidFill>
              </a:defRPr>
            </a:lvl4pPr>
            <a:lvl5pPr>
              <a:defRPr sz="1725" b="0">
                <a:solidFill>
                  <a:srgbClr val="172B3A"/>
                </a:solidFill>
              </a:defRPr>
            </a:lvl5pPr>
            <a:lvl6pPr>
              <a:defRPr sz="1725" b="0">
                <a:solidFill>
                  <a:srgbClr val="172B3A"/>
                </a:solidFill>
              </a:defRPr>
            </a:lvl6pPr>
            <a:lvl7pPr>
              <a:defRPr sz="1725" b="0">
                <a:solidFill>
                  <a:srgbClr val="172B3A"/>
                </a:solidFill>
              </a:defRPr>
            </a:lvl7pPr>
            <a:lvl8pPr>
              <a:defRPr sz="1725" b="0">
                <a:solidFill>
                  <a:srgbClr val="172B3A"/>
                </a:solidFill>
              </a:defRPr>
            </a:lvl8pPr>
            <a:lvl9pPr>
              <a:defRPr sz="17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Outputs: paired raw CSV and JSON, condition summary, overall summary, and plot.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F03A1-5C41-4820-8DB7-51025ABE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002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A9D8F"/>
                </a:solidFill>
              </a:defRPr>
            </a:defPPr>
            <a:lvl1pPr>
              <a:defRPr sz="2250" b="1">
                <a:solidFill>
                  <a:srgbClr val="2A9D8F"/>
                </a:solidFill>
              </a:defRPr>
            </a:lvl1pPr>
            <a:lvl2pPr>
              <a:defRPr sz="2250" b="1">
                <a:solidFill>
                  <a:srgbClr val="2A9D8F"/>
                </a:solidFill>
              </a:defRPr>
            </a:lvl2pPr>
            <a:lvl3pPr>
              <a:defRPr sz="2250" b="1">
                <a:solidFill>
                  <a:srgbClr val="2A9D8F"/>
                </a:solidFill>
              </a:defRPr>
            </a:lvl3pPr>
            <a:lvl4pPr>
              <a:defRPr sz="2250" b="1">
                <a:solidFill>
                  <a:srgbClr val="2A9D8F"/>
                </a:solidFill>
              </a:defRPr>
            </a:lvl4pPr>
            <a:lvl5pPr>
              <a:defRPr sz="2250" b="1">
                <a:solidFill>
                  <a:srgbClr val="2A9D8F"/>
                </a:solidFill>
              </a:defRPr>
            </a:lvl5pPr>
            <a:lvl6pPr>
              <a:defRPr sz="2250" b="1">
                <a:solidFill>
                  <a:srgbClr val="2A9D8F"/>
                </a:solidFill>
              </a:defRPr>
            </a:lvl6pPr>
            <a:lvl7pPr>
              <a:defRPr sz="2250" b="1">
                <a:solidFill>
                  <a:srgbClr val="2A9D8F"/>
                </a:solidFill>
              </a:defRPr>
            </a:lvl7pPr>
            <a:lvl8pPr>
              <a:defRPr sz="2250" b="1">
                <a:solidFill>
                  <a:srgbClr val="2A9D8F"/>
                </a:solidFill>
              </a:defRPr>
            </a:lvl8pPr>
            <a:lvl9pPr>
              <a:defRPr sz="2250" b="1">
                <a:solidFill>
                  <a:srgbClr val="2A9D8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A9D8F"/>
                </a:solidFill>
              </a:defRPr>
            </a:pPr>
            <a:r>
              <a:rPr sz="2250" b="1">
                <a:solidFill>
                  <a:srgbClr val="2A9D8F"/>
                </a:solidFill>
              </a:rPr>
              <a:t>Before stronger claims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42F47-CD1A-490A-8F0F-E80630D0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98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Align task generation with RF calibration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Run full repeated-seed grid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Study feature-conditional uncertainty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Review the scheduling literature systematically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Compare under shared capacity and queue assumptions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08766-8116-4C1E-AE42-198DC512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B6B73"/>
                </a:solidFill>
              </a:defRPr>
            </a:defPPr>
            <a:lvl1pPr>
              <a:defRPr sz="1425" b="0">
                <a:solidFill>
                  <a:srgbClr val="5B6B73"/>
                </a:solidFill>
              </a:defRPr>
            </a:lvl1pPr>
            <a:lvl2pPr>
              <a:defRPr sz="1425" b="0">
                <a:solidFill>
                  <a:srgbClr val="5B6B73"/>
                </a:solidFill>
              </a:defRPr>
            </a:lvl2pPr>
            <a:lvl3pPr>
              <a:defRPr sz="1425" b="0">
                <a:solidFill>
                  <a:srgbClr val="5B6B73"/>
                </a:solidFill>
              </a:defRPr>
            </a:lvl3pPr>
            <a:lvl4pPr>
              <a:defRPr sz="1425" b="0">
                <a:solidFill>
                  <a:srgbClr val="5B6B73"/>
                </a:solidFill>
              </a:defRPr>
            </a:lvl4pPr>
            <a:lvl5pPr>
              <a:defRPr sz="1425" b="0">
                <a:solidFill>
                  <a:srgbClr val="5B6B73"/>
                </a:solidFill>
              </a:defRPr>
            </a:lvl5pPr>
            <a:lvl6pPr>
              <a:defRPr sz="1425" b="0">
                <a:solidFill>
                  <a:srgbClr val="5B6B73"/>
                </a:solidFill>
              </a:defRPr>
            </a:lvl6pPr>
            <a:lvl7pPr>
              <a:defRPr sz="1425" b="0">
                <a:solidFill>
                  <a:srgbClr val="5B6B73"/>
                </a:solidFill>
              </a:defRPr>
            </a:lvl7pPr>
            <a:lvl8pPr>
              <a:defRPr sz="1425" b="0">
                <a:solidFill>
                  <a:srgbClr val="5B6B73"/>
                </a:solidFill>
              </a:defRPr>
            </a:lvl8pPr>
            <a:lvl9pPr>
              <a:defRPr sz="1425" b="0">
                <a:solidFill>
                  <a:srgbClr val="5B6B7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B73"/>
                </a:solidFill>
              </a:defRPr>
            </a:pPr>
            <a:r>
              <a:rPr sz="1425" b="0">
                <a:solidFill>
                  <a:srgbClr val="5B6B73"/>
                </a:solidFill>
              </a:rPr>
              <a:t>Key references: Breiman (2001); Romano et al. (2019); Liu &amp; Layland (1973). See report bibliography.</a:t>
            </a:r>
          </a:p>
        </p:txBody>
      </p:sp>
    </p:spTree>
    <p:extLst>
      <p:ext uri="{BB962C8B-B14F-4D97-AF65-F5344CB8AC3E}">
        <p14:creationId xmlns:p14="http://schemas.microsoft.com/office/powerpoint/2010/main" val="17723214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25302-B531-4E0D-9AAB-3B852E63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324F"/>
                </a:solidFill>
              </a:defRPr>
            </a:defPPr>
            <a:lvl1pPr>
              <a:defRPr sz="3300" b="1">
                <a:solidFill>
                  <a:srgbClr val="16324F"/>
                </a:solidFill>
              </a:defRPr>
            </a:lvl1pPr>
            <a:lvl2pPr>
              <a:defRPr sz="3300" b="1">
                <a:solidFill>
                  <a:srgbClr val="16324F"/>
                </a:solidFill>
              </a:defRPr>
            </a:lvl2pPr>
            <a:lvl3pPr>
              <a:defRPr sz="3300" b="1">
                <a:solidFill>
                  <a:srgbClr val="16324F"/>
                </a:solidFill>
              </a:defRPr>
            </a:lvl3pPr>
            <a:lvl4pPr>
              <a:defRPr sz="3300" b="1">
                <a:solidFill>
                  <a:srgbClr val="16324F"/>
                </a:solidFill>
              </a:defRPr>
            </a:lvl4pPr>
            <a:lvl5pPr>
              <a:defRPr sz="3300" b="1">
                <a:solidFill>
                  <a:srgbClr val="16324F"/>
                </a:solidFill>
              </a:defRPr>
            </a:lvl5pPr>
            <a:lvl6pPr>
              <a:defRPr sz="3300" b="1">
                <a:solidFill>
                  <a:srgbClr val="16324F"/>
                </a:solidFill>
              </a:defRPr>
            </a:lvl6pPr>
            <a:lvl7pPr>
              <a:defRPr sz="3300" b="1">
                <a:solidFill>
                  <a:srgbClr val="16324F"/>
                </a:solidFill>
              </a:defRPr>
            </a:lvl7pPr>
            <a:lvl8pPr>
              <a:defRPr sz="3300" b="1">
                <a:solidFill>
                  <a:srgbClr val="16324F"/>
                </a:solidFill>
              </a:defRPr>
            </a:lvl8pPr>
            <a:lvl9pPr>
              <a:defRPr sz="33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</a:defRPr>
            </a:pPr>
            <a:r>
              <a:rPr sz="3300" b="1">
                <a:solidFill>
                  <a:srgbClr val="16324F"/>
                </a:solidFill>
              </a:rPr>
              <a:t>References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6119E-E405-49C8-9326-8B2BF10B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F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77C86-FEB9-44F3-BA14-04C4502C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L. Breiman (2001). Random Forests. Machine Learning 45, 5–32. doi:10.1023/A:1010933404324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FE5EC-8362-47EB-909E-999C7D06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Y. Romano, E. Patterson, and E. Candes (2019). Conformalized Quantile Regression. NeurIPS 32.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40E75-AB40-479E-9419-5CEC18AF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C. L. Liu and J. W. Layland (1973). Scheduling Algorithms for Multiprogramming in a Hard-Real-Time Environment. JACM 20(1), 46–61.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B96C6-48C0-46B0-AD23-D0F209CC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C45B43"/>
                </a:solidFill>
              </a:defRPr>
            </a:defPPr>
            <a:lvl1pPr>
              <a:defRPr sz="1725" b="1">
                <a:solidFill>
                  <a:srgbClr val="C45B43"/>
                </a:solidFill>
              </a:defRPr>
            </a:lvl1pPr>
            <a:lvl2pPr>
              <a:defRPr sz="1725" b="1">
                <a:solidFill>
                  <a:srgbClr val="C45B43"/>
                </a:solidFill>
              </a:defRPr>
            </a:lvl2pPr>
            <a:lvl3pPr>
              <a:defRPr sz="1725" b="1">
                <a:solidFill>
                  <a:srgbClr val="C45B43"/>
                </a:solidFill>
              </a:defRPr>
            </a:lvl3pPr>
            <a:lvl4pPr>
              <a:defRPr sz="1725" b="1">
                <a:solidFill>
                  <a:srgbClr val="C45B43"/>
                </a:solidFill>
              </a:defRPr>
            </a:lvl4pPr>
            <a:lvl5pPr>
              <a:defRPr sz="1725" b="1">
                <a:solidFill>
                  <a:srgbClr val="C45B43"/>
                </a:solidFill>
              </a:defRPr>
            </a:lvl5pPr>
            <a:lvl6pPr>
              <a:defRPr sz="1725" b="1">
                <a:solidFill>
                  <a:srgbClr val="C45B43"/>
                </a:solidFill>
              </a:defRPr>
            </a:lvl6pPr>
            <a:lvl7pPr>
              <a:defRPr sz="1725" b="1">
                <a:solidFill>
                  <a:srgbClr val="C45B43"/>
                </a:solidFill>
              </a:defRPr>
            </a:lvl7pPr>
            <a:lvl8pPr>
              <a:defRPr sz="1725" b="1">
                <a:solidFill>
                  <a:srgbClr val="C45B43"/>
                </a:solidFill>
              </a:defRPr>
            </a:lvl8pPr>
            <a:lvl9pPr>
              <a:defRPr sz="1725" b="1">
                <a:solidFill>
                  <a:srgbClr val="C45B4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C45B43"/>
                </a:solidFill>
              </a:defRPr>
            </a:pPr>
            <a:r>
              <a:rPr sz="1725" b="1">
                <a:solidFill>
                  <a:srgbClr val="C45B43"/>
                </a:solidFill>
              </a:rPr>
              <a:t>These references provide background only. They do not establish novelty or formal guarantees for this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642202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2026-10-24T10:19:39.9550000Z</dcterms:created>
  <dcterms:modified xsi:type="dcterms:W3CDTF">2026-10-24T10:19:39.9550000Z</dcterms:modified>
</coreProperties>
</file>